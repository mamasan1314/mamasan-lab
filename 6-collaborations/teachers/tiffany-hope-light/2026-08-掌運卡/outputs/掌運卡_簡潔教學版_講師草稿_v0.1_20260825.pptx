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1859C-53DA-4A9D-874F-12A30D9FA2C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2316A9-12F4-4E52-AE07-9788E68FAC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8826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本課程把掌運卡定位為自我覺察與對話工具，而不是替人宣告命運。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0666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先建立共同語言，再練習解讀；不要求學員一開始背完所有形容詞。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59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S03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S05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S54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與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S02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S03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。把「不算命」落實到教學語言，而不是只留口號。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43544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數字回答「什麼主題」，花色回答「如何呈現」，位置回答「扮演什麼角色」，最後才回到當事人的真實情境。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7481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遇到健康或危機議題時停止牌卡判定，協助對方尋求合格專業；涉及他人時回到提問者可覺察與可行動的部分。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90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進入花色章節。來源為九月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S10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S14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S54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與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S07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S11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030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這是候選上位定義。它把來源中過長且互相矛盾的關鍵字收進四個較穩定的領域。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054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黑桃不是單純好或不好；同一份力量可以是堅定，也可以因過度而形成壓迫與防衛。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4464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解讀時不要把紅心限定為女性；它描述的是關係與感受層面。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18650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來源使用「紅磚」與「方塊」兩種名稱；學員版統一為方塊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Diamonds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38204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來源多稱「黑梅」且常視為負向修飾，但部分牌有例外。正式版需由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確認「黑梅」是否保留為系統專名。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567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S15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S16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。用旅程幫學員建立記憶骨架，再進入各牌核心。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2166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S12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。不要直接由牌判定感情變心，應回到投入程度與行動一致性。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733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S18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S19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S13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。可分辨干擾來自內在、關係或環境，但不直接宣稱小人或第三者存在。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6341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S20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S21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S14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。原稿以此牌推斷性傾向的內容不納入課程。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940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S23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S15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S29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。雙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的規則移到進階組合，不在牌義頁重複。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08002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S24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S16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。把健康、離婚或拆夥的確定性結論改成「基礎需要檢視」。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4406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S25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S26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S17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S31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。解讀重點是把「無解」拆成可辨識因素，而不是宣判沒有轉圜。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1183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S28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S18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。雙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的健康與生死推論不納入課程。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224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S29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S19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。梅花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是否屬不確定牌待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確認。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734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S30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S20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。原稿的血光、手術與抽血化解說法不納入課程。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9596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S31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S21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。財富不限金錢，也包括能力、關係與可運用資源。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1262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S22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。移除手術與性傾向推論，保留技能、執行與合作角色。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884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S33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S23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。這是角色能量，不限定性別。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4557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S34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S24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。這是角色能量，不限定性別。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3957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請學員用自己的話說出四段旅程，不背完整形容詞清單。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71451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進入操作章節。來源為九月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S09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S51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S54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與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0305 S05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S06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S39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141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把「他愛不愛我」改為「在這段關係裡，我需要看見什麼互動與界線？」把問題拉回當事人可以理解和調整的範圍。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4447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初學聚焦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張。多牌陣要先定義每個位置；不要抽完才隨意安排意義。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3290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來源把兩張牌稱為前因／結果，且第二張權重較高。新版改為影響／回應，避免把第二張當不可改變的命運結果。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29276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每張先說核心，再看三張之間如何承接；最後請當事人確認哪些部分符合經驗。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4704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涉及對方需要同意，且不推斷其隱私。原稿把多牌陣連結健康與磁場，新版只作狀態與因素整理。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6832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任何特殊組合都不能跳過問題、位置與當事人的核對。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1933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來源特殊組合頁重複且有互相衝突的結論。正式規則矩陣需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Tiffany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確認後放入學員手冊或進階班。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481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來源的不確定牌清單有兩套版本，暫不寫進學員頁。正式版需確認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／梅花 </a:t>
            </a:r>
            <a:r>
              <a:rPr lang="en-US" altLang="zh-TW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</a:t>
            </a:r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與尾牌補牌規則。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06259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兩人一組輪替。映照者不追求猜中隱私，只練習清楚描述、核對與整理。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72597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這三句是整堂課最重要的帶領語言，幫助解讀從宣判走向對話。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8953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邀請學員說出今天帶走的一個看見與一個行動。案例學習紀錄另放學員手冊。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2316A9-12F4-4E52-AE07-9788E68FACBD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473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ABD76-F075-0BBD-897A-FF1BC39C2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4A8261-FCBF-B6EE-D1A8-64315C4EB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F6FA22-5397-B46A-1C06-30599E61D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0F7BD7-F8D3-BDC7-A49F-FE0DA073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0C401D-F9C0-A488-44F9-B8B7DC63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4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9E3657-56C2-8B12-1017-714B1510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C6F609-E2BE-EBD1-F474-B76489A8C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43578A-6038-50E0-C940-C5BDB268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355732-066E-62D8-BDEE-F48BF6DD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BE98D1-86A0-6FD7-94E1-6752465BE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809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828EE-68EB-63D7-E4AB-101D0F58D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E07BD2-BD1F-3950-A6B6-45273E7C7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700C4D-FBFE-B159-E072-B333226E4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F2252C-E0C5-5535-BA41-A83A7874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536077-8120-6B40-8BFB-2ED8FA2C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693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EC0452-270C-4F72-27D2-0D6F81D5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654C0E-C7FE-93B1-FAB3-E37887484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DD9EA8A-2543-2042-4184-E703EB236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B3E2E-DF62-F796-D9B9-E0ED7731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2C47E2-B00C-DB94-19C6-5A5CAE73F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8A29001-22D3-0D8D-40F5-47DB4B47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928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A09994-9CC7-D2B6-E38B-A9E437C42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961633-6C21-6744-56DA-7EA8DE6B1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1D1CFE-B7CE-7CED-795B-4E00AA6B7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D658C80-6413-CD63-6713-0EE4FC1BA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6F72C8B-8EC0-DE48-DC5A-C58E789A0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CF5AE0F-F1D2-60C8-F7D3-E4A6209C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41236D2-C6BE-B562-64D6-04E100EE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892FC60-4D41-1CCC-A1E1-3161BC9C4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193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5A1367-BDD8-49A7-43CE-8598E1EC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B534531-E13F-D427-E9B1-22EF2FD7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59BD30-73D7-030B-46EF-9CEB2763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0DF0E99-2E29-1802-77E4-D23E9909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7483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02ABB1-F18E-B1D7-C49A-B306CF842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ED27268-041E-D9C7-E46A-F9D7694AC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AC02C5-54DE-E3EA-4B09-FC0A5038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11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87552-76CF-B7AE-CE9B-1628BD7B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C95E58-D538-5752-A9C1-4DC26BFC8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BCE20E1-943E-9449-5223-F5A5A3F10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4E40156-C601-0503-1529-AFBE6FFB7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E4183F7-EA67-7ECB-458E-2A2689678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BF23242-D4F7-5992-3A77-B4F6243F0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80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BA5391-503E-41C1-C858-76BAE6B2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8D33414-DD0A-2447-806A-673ED1CBA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B54C91-7FEE-01BE-6079-7E3F99F88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37F803-4A00-9DD5-2439-E731AB2B4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377BA4-6C63-1E2C-49A3-6DE6C119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815D577-9F7E-5D41-366C-94A3DCE6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467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EDDAA6-1E27-6A4F-1C29-EE9362BEE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E34330-3501-2BA6-0E3B-ADAC43A50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5A0ACB-85DA-4043-4D1D-071B129F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A3FD0C-76A1-D52F-47F0-C847B5DE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2D286F-B765-B761-8903-169DB85F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241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8AAB30-E88A-13FF-25F5-4968C1553E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3BA617-370A-86C2-3BF7-5A4E3B00C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8E6648-DEE9-9804-6FEB-64C3BC27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0474C86-CFAF-4A02-F007-E5027F232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CBB470-EC8E-E8DF-98B1-66EED9C3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24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1F42BE2-6C4F-98E4-8CBD-7A7590D72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3EA321-D8E5-9CF4-5985-3CBF19E96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9B70FB-D513-C82F-E275-726A50F98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362A2-A804-4D86-9B0D-A8B0AB5F37B4}" type="datetimeFigureOut">
              <a:rPr lang="zh-TW" altLang="en-US" smtClean="0"/>
              <a:t>2026/8/25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3440F-9670-C16F-7BA8-696AC663A8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25F2663-73E1-86CB-ADAE-BE2BD92CC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A00F8-170E-4E51-A9E3-5EE1C0C9AD5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89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32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橢圓 1">
            <a:extLst>
              <a:ext uri="{FF2B5EF4-FFF2-40B4-BE49-F238E27FC236}">
                <a16:creationId xmlns:a16="http://schemas.microsoft.com/office/drawing/2014/main" id="{D114754C-7ECE-8CD1-7C70-9488C1E2D33C}"/>
              </a:ext>
            </a:extLst>
          </p:cNvPr>
          <p:cNvSpPr/>
          <p:nvPr/>
        </p:nvSpPr>
        <p:spPr>
          <a:xfrm>
            <a:off x="8382000" y="-1016000"/>
            <a:ext cx="4572000" cy="4572000"/>
          </a:xfrm>
          <a:prstGeom prst="ellipse">
            <a:avLst/>
          </a:prstGeom>
          <a:solidFill>
            <a:srgbClr val="C39852">
              <a:alpha val="8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BF44259E-DDF6-570F-3779-FD46C5D7211B}"/>
              </a:ext>
            </a:extLst>
          </p:cNvPr>
          <p:cNvSpPr/>
          <p:nvPr/>
        </p:nvSpPr>
        <p:spPr>
          <a:xfrm>
            <a:off x="9461500" y="3238500"/>
            <a:ext cx="3302000" cy="3302000"/>
          </a:xfrm>
          <a:prstGeom prst="ellipse">
            <a:avLst/>
          </a:prstGeom>
          <a:solidFill>
            <a:srgbClr val="C97F7A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77D954-29EE-F40D-CACB-69688BB33B28}"/>
              </a:ext>
            </a:extLst>
          </p:cNvPr>
          <p:cNvSpPr txBox="1"/>
          <p:nvPr/>
        </p:nvSpPr>
        <p:spPr>
          <a:xfrm>
            <a:off x="889000" y="762000"/>
            <a:ext cx="3810000" cy="292388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400" b="1">
                <a:solidFill>
                  <a:srgbClr val="EFE1C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endParaRPr lang="zh-TW" altLang="en-US" sz="1400" b="1">
              <a:solidFill>
                <a:srgbClr val="EFE1C8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EBBEA1-56B6-C030-7739-B473C867D489}"/>
              </a:ext>
            </a:extLst>
          </p:cNvPr>
          <p:cNvSpPr txBox="1"/>
          <p:nvPr/>
        </p:nvSpPr>
        <p:spPr>
          <a:xfrm>
            <a:off x="889000" y="1841500"/>
            <a:ext cx="7112000" cy="90794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5400" b="1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6302E79-2C58-24EF-C4BE-6BE90797ABD7}"/>
              </a:ext>
            </a:extLst>
          </p:cNvPr>
          <p:cNvSpPr txBox="1"/>
          <p:nvPr/>
        </p:nvSpPr>
        <p:spPr>
          <a:xfrm>
            <a:off x="914400" y="3022600"/>
            <a:ext cx="5080000" cy="5078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800" b="1">
                <a:solidFill>
                  <a:srgbClr val="EFE1C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映照課程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37F343A-0DC9-AE9F-58F2-9C07785F044A}"/>
              </a:ext>
            </a:extLst>
          </p:cNvPr>
          <p:cNvSpPr txBox="1"/>
          <p:nvPr/>
        </p:nvSpPr>
        <p:spPr>
          <a:xfrm>
            <a:off x="914400" y="4191000"/>
            <a:ext cx="7112000" cy="38472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0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從牌面，看見當下；從覺察，走向選擇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E9C901F-E1BA-A004-6E1A-86398CF41327}"/>
              </a:ext>
            </a:extLst>
          </p:cNvPr>
          <p:cNvSpPr txBox="1"/>
          <p:nvPr/>
        </p:nvSpPr>
        <p:spPr>
          <a:xfrm>
            <a:off x="889000" y="5397500"/>
            <a:ext cx="4953000" cy="5078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800">
                <a:solidFill>
                  <a:srgbClr val="F1D9D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 ♥   ♦ 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6770655-D9AD-1E0A-0F15-7ACE0A87348C}"/>
              </a:ext>
            </a:extLst>
          </p:cNvPr>
          <p:cNvSpPr txBox="1"/>
          <p:nvPr/>
        </p:nvSpPr>
        <p:spPr>
          <a:xfrm>
            <a:off x="914400" y="6184900"/>
            <a:ext cx="279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>
                <a:solidFill>
                  <a:srgbClr val="EFE1C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v0.1</a:t>
            </a:r>
            <a:r>
              <a:rPr lang="zh-TW" altLang="en-US" sz="1000">
                <a:solidFill>
                  <a:srgbClr val="EFE1C8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｜講師草稿</a:t>
            </a:r>
          </a:p>
        </p:txBody>
      </p:sp>
    </p:spTree>
    <p:extLst>
      <p:ext uri="{BB962C8B-B14F-4D97-AF65-F5344CB8AC3E}">
        <p14:creationId xmlns:p14="http://schemas.microsoft.com/office/powerpoint/2010/main" val="356601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AF01337-BD0A-FB69-64EF-0E93D780D5F4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42FB70-A0D9-5EC9-ACF2-E0B908733D2B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617086E-7A95-EBAE-11D8-E33EF5D15877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02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8845C1E-2689-B9DC-C24E-4635FFCBE205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今天會帶走什麼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6AB7E8-9B09-B960-445C-F52EC1DCC647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A16CD92-0CD5-4871-900F-08DF130B3987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D70C197-FC9E-FC17-CB4B-14D1FFE74802}"/>
              </a:ext>
            </a:extLst>
          </p:cNvPr>
          <p:cNvSpPr txBox="1"/>
          <p:nvPr/>
        </p:nvSpPr>
        <p:spPr>
          <a:xfrm>
            <a:off x="1117600" y="2552700"/>
            <a:ext cx="9804400" cy="18851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看懂四種花色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掌握 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核心主題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學會提出好問題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把牌面整理成下一步</a:t>
            </a:r>
          </a:p>
        </p:txBody>
      </p:sp>
    </p:spTree>
    <p:extLst>
      <p:ext uri="{BB962C8B-B14F-4D97-AF65-F5344CB8AC3E}">
        <p14:creationId xmlns:p14="http://schemas.microsoft.com/office/powerpoint/2010/main" val="1722293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BFA7435-0A90-70B5-DE2E-D9ED9F4802D7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7AAC11-32DB-1017-59C5-A79978DA152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FF349A4-F5FE-2172-6AB8-7FEC8ACAE2FE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03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6331013-BA30-9EA6-64DD-1C38A89F552D}"/>
              </a:ext>
            </a:extLst>
          </p:cNvPr>
          <p:cNvSpPr txBox="1"/>
          <p:nvPr/>
        </p:nvSpPr>
        <p:spPr>
          <a:xfrm>
            <a:off x="863600" y="1041400"/>
            <a:ext cx="10464800" cy="415498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掌運卡是什麼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5EE08EB-7541-5274-54AC-98FC9302CA34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436863E-D925-2D56-5C61-18C418614CEC}"/>
              </a:ext>
            </a:extLst>
          </p:cNvPr>
          <p:cNvSpPr txBox="1"/>
          <p:nvPr/>
        </p:nvSpPr>
        <p:spPr>
          <a:xfrm>
            <a:off x="1549400" y="2073040"/>
            <a:ext cx="9093200" cy="105926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900" b="1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不是替你決定，</a:t>
            </a:r>
          </a:p>
          <a:p>
            <a:pPr algn="ctr">
              <a:spcAft>
                <a:spcPts val="700"/>
              </a:spcAft>
            </a:pPr>
            <a:r>
              <a:rPr lang="zh-TW" altLang="en-US" sz="2900" b="1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是陪你看見正在發生的內在劇情。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D8EA663-85FE-83B9-0395-B4C199C6AD00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776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1AAF4A9-72CF-8D1D-7132-B2064E46AB8F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BA1D8B-D441-BA93-1241-763A953F0F34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C877B9A-EDBC-6642-7284-D1ADD8419305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04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B6FD71B-8C79-2CAC-33EC-6391301206FA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一張牌，四層意思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90611A-0730-10BD-C618-BBD5334C2327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361334A-6210-40CE-96E2-1E2640B8B184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01878EA-3D37-6EB4-785F-56673ADBFED1}"/>
              </a:ext>
            </a:extLst>
          </p:cNvPr>
          <p:cNvSpPr txBox="1"/>
          <p:nvPr/>
        </p:nvSpPr>
        <p:spPr>
          <a:xfrm>
            <a:off x="1193800" y="2486434"/>
            <a:ext cx="9804400" cy="18851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數字／角色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 花色狀態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 牌陣位置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 提問情境</a:t>
            </a:r>
          </a:p>
        </p:txBody>
      </p:sp>
    </p:spTree>
    <p:extLst>
      <p:ext uri="{BB962C8B-B14F-4D97-AF65-F5344CB8AC3E}">
        <p14:creationId xmlns:p14="http://schemas.microsoft.com/office/powerpoint/2010/main" val="408890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08A0A74-ED68-49E9-3171-D4071171C343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598D25-76FD-CA7A-4482-B149EDEA95C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CE55AB8-10AA-5ABA-225B-FADB0C61BDCA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05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D7E1667-B57F-18EB-2FEC-44B15EDE2BB0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使用界線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857F21-7258-C250-7DD0-B4FA8227508C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10226C3-D957-6105-2E8D-5E049E4737A3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4A50E7C-2025-84B1-1F98-0B90BD4C18F3}"/>
              </a:ext>
            </a:extLst>
          </p:cNvPr>
          <p:cNvSpPr txBox="1"/>
          <p:nvPr/>
        </p:nvSpPr>
        <p:spPr>
          <a:xfrm>
            <a:off x="1092200" y="2594384"/>
            <a:ext cx="9804400" cy="18851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不診斷疾病或預測生死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不推斷他人隱私與性傾向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不代替醫療、法律或財務專業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不用「必定、百分之百、無解」宣判</a:t>
            </a:r>
          </a:p>
        </p:txBody>
      </p:sp>
    </p:spTree>
    <p:extLst>
      <p:ext uri="{BB962C8B-B14F-4D97-AF65-F5344CB8AC3E}">
        <p14:creationId xmlns:p14="http://schemas.microsoft.com/office/powerpoint/2010/main" val="2674600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1C0DF77-FCDC-29EF-CBCA-1D5C0FA52776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ADE6BD-DB38-10CF-E76B-140710008F44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316C337-D3BC-4F18-4FA1-E6BE47AD9B37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06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0DCCA9F-47BD-BA40-70B0-E1E777CB57CF}"/>
              </a:ext>
            </a:extLst>
          </p:cNvPr>
          <p:cNvSpPr txBox="1"/>
          <p:nvPr/>
        </p:nvSpPr>
        <p:spPr>
          <a:xfrm>
            <a:off x="863600" y="1041400"/>
            <a:ext cx="10464800" cy="415498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花色，是牌的情緒與場域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612C117-CA42-A946-686D-7BCFB0A64C97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250A4A8-4F0D-B3D4-A7C8-17BC4DD343BB}"/>
              </a:ext>
            </a:extLst>
          </p:cNvPr>
          <p:cNvSpPr txBox="1"/>
          <p:nvPr/>
        </p:nvSpPr>
        <p:spPr>
          <a:xfrm>
            <a:off x="1549400" y="2073040"/>
            <a:ext cx="9093200" cy="105926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9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同一個數字，</a:t>
            </a:r>
          </a:p>
          <a:p>
            <a:pPr algn="ctr">
              <a:spcAft>
                <a:spcPts val="700"/>
              </a:spcAft>
            </a:pPr>
            <a:r>
              <a:rPr lang="zh-TW" altLang="en-US" sz="29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會因花色呈現不同狀態。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3ECB9A3E-F8CE-1773-3F06-07E43E6706A7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405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C596286-8AF2-1A71-C2BB-284FE7F2BBD6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D24716-AA7E-4E36-AE40-FA994C2E785F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E703F99-A9C1-665B-E8FC-9DE845C3A774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07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4B4D99-B801-C17A-56B3-7D5C0AC33756}"/>
              </a:ext>
            </a:extLst>
          </p:cNvPr>
          <p:cNvSpPr txBox="1"/>
          <p:nvPr/>
        </p:nvSpPr>
        <p:spPr>
          <a:xfrm>
            <a:off x="787400" y="9906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四種花色總覽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3625F29-8083-D75C-1D86-6EB286637416}"/>
              </a:ext>
            </a:extLst>
          </p:cNvPr>
          <p:cNvSpPr/>
          <p:nvPr/>
        </p:nvSpPr>
        <p:spPr>
          <a:xfrm>
            <a:off x="787400" y="2032000"/>
            <a:ext cx="2438400" cy="3302000"/>
          </a:xfrm>
          <a:prstGeom prst="roundRect">
            <a:avLst/>
          </a:prstGeom>
          <a:solidFill>
            <a:srgbClr val="FFFDFC"/>
          </a:solidFill>
          <a:ln w="17780">
            <a:solidFill>
              <a:srgbClr val="273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09AC257-45DA-7704-B7AF-209DCF591D69}"/>
              </a:ext>
            </a:extLst>
          </p:cNvPr>
          <p:cNvSpPr txBox="1"/>
          <p:nvPr/>
        </p:nvSpPr>
        <p:spPr>
          <a:xfrm>
            <a:off x="1092200" y="2311400"/>
            <a:ext cx="1828800" cy="78483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46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5317FB9-7EA5-D0C0-14A8-70B582867874}"/>
              </a:ext>
            </a:extLst>
          </p:cNvPr>
          <p:cNvSpPr txBox="1"/>
          <p:nvPr/>
        </p:nvSpPr>
        <p:spPr>
          <a:xfrm>
            <a:off x="1041400" y="3556000"/>
            <a:ext cx="1930400" cy="446276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4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黑桃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1296030-30BD-FB79-0366-5B71E1DDD0C4}"/>
              </a:ext>
            </a:extLst>
          </p:cNvPr>
          <p:cNvSpPr txBox="1"/>
          <p:nvPr/>
        </p:nvSpPr>
        <p:spPr>
          <a:xfrm>
            <a:off x="965200" y="4279900"/>
            <a:ext cx="2082800" cy="323165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6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意志與界線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826DB48-BB9A-4165-9587-C89C212FFCC7}"/>
              </a:ext>
            </a:extLst>
          </p:cNvPr>
          <p:cNvSpPr/>
          <p:nvPr/>
        </p:nvSpPr>
        <p:spPr>
          <a:xfrm>
            <a:off x="3568700" y="2032000"/>
            <a:ext cx="2438400" cy="3302000"/>
          </a:xfrm>
          <a:prstGeom prst="roundRect">
            <a:avLst/>
          </a:prstGeom>
          <a:solidFill>
            <a:srgbClr val="F1D9D5"/>
          </a:solidFill>
          <a:ln w="17780">
            <a:solidFill>
              <a:srgbClr val="C97F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4294F10-E90A-FB56-9A11-A1B983BE4D26}"/>
              </a:ext>
            </a:extLst>
          </p:cNvPr>
          <p:cNvSpPr txBox="1"/>
          <p:nvPr/>
        </p:nvSpPr>
        <p:spPr>
          <a:xfrm>
            <a:off x="3873500" y="2311400"/>
            <a:ext cx="1828800" cy="78483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4600" b="1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♥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6607F5F-EB0C-C639-D1CE-B8FD4734AB3D}"/>
              </a:ext>
            </a:extLst>
          </p:cNvPr>
          <p:cNvSpPr txBox="1"/>
          <p:nvPr/>
        </p:nvSpPr>
        <p:spPr>
          <a:xfrm>
            <a:off x="3822700" y="3556000"/>
            <a:ext cx="1930400" cy="446276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4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紅心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6E4994D-02D1-AB92-B03F-30EBF3E01EB2}"/>
              </a:ext>
            </a:extLst>
          </p:cNvPr>
          <p:cNvSpPr txBox="1"/>
          <p:nvPr/>
        </p:nvSpPr>
        <p:spPr>
          <a:xfrm>
            <a:off x="3746500" y="4279900"/>
            <a:ext cx="2082800" cy="323165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6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情感與連結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380BAF3-2123-1B52-943A-626B2ADE3D58}"/>
              </a:ext>
            </a:extLst>
          </p:cNvPr>
          <p:cNvSpPr/>
          <p:nvPr/>
        </p:nvSpPr>
        <p:spPr>
          <a:xfrm>
            <a:off x="6350000" y="2032000"/>
            <a:ext cx="2438400" cy="3302000"/>
          </a:xfrm>
          <a:prstGeom prst="roundRect">
            <a:avLst/>
          </a:prstGeom>
          <a:solidFill>
            <a:srgbClr val="EFE1C8"/>
          </a:solidFill>
          <a:ln w="1778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AA62BE2-B729-4746-21DF-87E9A780CF46}"/>
              </a:ext>
            </a:extLst>
          </p:cNvPr>
          <p:cNvSpPr txBox="1"/>
          <p:nvPr/>
        </p:nvSpPr>
        <p:spPr>
          <a:xfrm>
            <a:off x="6654800" y="2311400"/>
            <a:ext cx="1828800" cy="78483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46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♦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891EE5A-5D5B-836D-7811-AD45AD9782CA}"/>
              </a:ext>
            </a:extLst>
          </p:cNvPr>
          <p:cNvSpPr txBox="1"/>
          <p:nvPr/>
        </p:nvSpPr>
        <p:spPr>
          <a:xfrm>
            <a:off x="6604000" y="3556000"/>
            <a:ext cx="1930400" cy="446276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4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方塊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9DF33A2-670B-875C-0B23-31EBDB5A0561}"/>
              </a:ext>
            </a:extLst>
          </p:cNvPr>
          <p:cNvSpPr txBox="1"/>
          <p:nvPr/>
        </p:nvSpPr>
        <p:spPr>
          <a:xfrm>
            <a:off x="6527800" y="4279900"/>
            <a:ext cx="2082800" cy="323165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6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資源與現實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083A5C1-88BA-1F4F-6FDC-C16481DEFB22}"/>
              </a:ext>
            </a:extLst>
          </p:cNvPr>
          <p:cNvSpPr/>
          <p:nvPr/>
        </p:nvSpPr>
        <p:spPr>
          <a:xfrm>
            <a:off x="9131300" y="2032000"/>
            <a:ext cx="2438400" cy="3302000"/>
          </a:xfrm>
          <a:prstGeom prst="roundRect">
            <a:avLst/>
          </a:prstGeom>
          <a:solidFill>
            <a:srgbClr val="DCE6DF"/>
          </a:solidFill>
          <a:ln w="17780">
            <a:solidFill>
              <a:srgbClr val="849C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C511ED5-5582-7B9C-1354-F04B02C8742B}"/>
              </a:ext>
            </a:extLst>
          </p:cNvPr>
          <p:cNvSpPr txBox="1"/>
          <p:nvPr/>
        </p:nvSpPr>
        <p:spPr>
          <a:xfrm>
            <a:off x="9436100" y="2311400"/>
            <a:ext cx="1828800" cy="78483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4600" b="1">
                <a:solidFill>
                  <a:srgbClr val="849C8D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♣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40B748F-0067-CCE4-1F8B-555882FCEF99}"/>
              </a:ext>
            </a:extLst>
          </p:cNvPr>
          <p:cNvSpPr txBox="1"/>
          <p:nvPr/>
        </p:nvSpPr>
        <p:spPr>
          <a:xfrm>
            <a:off x="9385300" y="3556000"/>
            <a:ext cx="1930400" cy="446276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4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梅花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D1DE8A8D-284D-E7E0-46A9-4D072DED9A56}"/>
              </a:ext>
            </a:extLst>
          </p:cNvPr>
          <p:cNvSpPr txBox="1"/>
          <p:nvPr/>
        </p:nvSpPr>
        <p:spPr>
          <a:xfrm>
            <a:off x="9309100" y="4279900"/>
            <a:ext cx="2082800" cy="323165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6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干擾與消耗</a:t>
            </a:r>
          </a:p>
        </p:txBody>
      </p:sp>
    </p:spTree>
    <p:extLst>
      <p:ext uri="{BB962C8B-B14F-4D97-AF65-F5344CB8AC3E}">
        <p14:creationId xmlns:p14="http://schemas.microsoft.com/office/powerpoint/2010/main" val="402147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038B6E0-0101-ED33-576C-2460D0035012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CD2D1A-2157-16EE-39BC-C17507BC08F6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39F16F2-3218-166B-9965-DC208CFA18A0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08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BBB21FA-4036-23D2-45D8-C300B6D1207D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黑桃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Spades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C95DCE-FEB8-3863-DBC1-4BCD041A33B9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5E8177A-892F-6459-7C0A-BF0042CFCD02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FA68663-1011-203F-F478-76FB9B2D2E5D}"/>
              </a:ext>
            </a:extLst>
          </p:cNvPr>
          <p:cNvSpPr txBox="1"/>
          <p:nvPr/>
        </p:nvSpPr>
        <p:spPr>
          <a:xfrm>
            <a:off x="1193800" y="2538109"/>
            <a:ext cx="98044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核心：意志・界線・責任・挑戰</a:t>
            </a:r>
          </a:p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支持：堅定、專注、有結構</a:t>
            </a:r>
          </a:p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受阻：固執、壓力、防衛</a:t>
            </a:r>
            <a:endParaRPr lang="zh-TW" altLang="en-US" sz="2500" dirty="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4636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F72CA5C-ECBB-F707-6E96-2D43EE0D0D3E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28BAF-EE19-E6D8-E23F-7B85ACCA6AED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3BB5428-B007-AD06-278B-3250DFFD6319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09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8C032F-49B1-0191-000F-DBE6A61A99B4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♥ 紅心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Hearts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696EB1-BCF7-7564-EA8E-8DDF9D7E8FA8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84DD984A-50A8-89DA-2832-592ED97D5CB2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ECC957B-CA53-3011-2F91-4DDCE3BA0848}"/>
              </a:ext>
            </a:extLst>
          </p:cNvPr>
          <p:cNvSpPr txBox="1"/>
          <p:nvPr/>
        </p:nvSpPr>
        <p:spPr>
          <a:xfrm>
            <a:off x="1193800" y="2607421"/>
            <a:ext cx="98044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核心：情感・關係・連結・需求</a:t>
            </a:r>
          </a:p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支持：溫暖、包容、信任</a:t>
            </a:r>
          </a:p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受阻：依賴、敏感、沉溺</a:t>
            </a:r>
            <a:endParaRPr lang="zh-TW" altLang="en-US" sz="2500" dirty="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2570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D309F44-D80A-D54A-C758-618A09F43DA1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5684EF-761F-B7B9-0E80-72F668A55D1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037E3C5-35CB-4719-7E13-110D3E611B1C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7AC6A9F-4EF0-DAD9-FD81-C44F4A81A467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♦ 方塊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Diamonds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C4946E-B874-09FC-FF3A-4EAEAD179EB9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92D3ED2-050D-5E02-A983-46EEB23323CE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B634F80-E801-D423-1251-94A06D25B61D}"/>
              </a:ext>
            </a:extLst>
          </p:cNvPr>
          <p:cNvSpPr txBox="1"/>
          <p:nvPr/>
        </p:nvSpPr>
        <p:spPr>
          <a:xfrm>
            <a:off x="1193800" y="2568510"/>
            <a:ext cx="98044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核心：現實・資源・工作・價值</a:t>
            </a:r>
          </a:p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支持：務實、積極、有目標</a:t>
            </a:r>
          </a:p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受阻：強勢、挑剔、過度物質化</a:t>
            </a:r>
            <a:endParaRPr lang="zh-TW" altLang="en-US" sz="2500" dirty="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1025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15F15FB-B963-CA82-5343-8A0B07904108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40DEDF-D12D-D6C2-4846-00DAE0AC3B40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E44BDFE-668E-DED9-D785-22EE76D3DD4A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D47B28A-395A-2855-1C68-EF58BEAB10CD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♣ 梅花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Clubs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5E1B37D-7191-EA31-D8AF-88A418705E5C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BB19C50-A357-BE02-B2FF-C5220BED8489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4CD2ED0-399B-3CAB-0B38-21AA88252B9C}"/>
              </a:ext>
            </a:extLst>
          </p:cNvPr>
          <p:cNvSpPr txBox="1"/>
          <p:nvPr/>
        </p:nvSpPr>
        <p:spPr>
          <a:xfrm>
            <a:off x="1117600" y="2602557"/>
            <a:ext cx="98044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核心：干擾・消耗・混亂・陰影</a:t>
            </a:r>
          </a:p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看見：問題藏在哪裡</a:t>
            </a:r>
          </a:p>
          <a:p>
            <a:pPr>
              <a:spcAft>
                <a:spcPts val="700"/>
              </a:spcAft>
            </a:pPr>
            <a:r>
              <a:rPr lang="ja-JP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留意：拖延、無力、失序</a:t>
            </a:r>
            <a:endParaRPr lang="zh-TW" altLang="en-US" sz="2500" dirty="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9033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411C96D-F30E-7F6B-66D2-4A36E08D8711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8A2C54-F55A-AA7B-3EAA-44CBA1AA512E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AA2A5C7-3A19-6C2B-B490-6E13F9A3417D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9D8CB2-FAC3-D78E-F107-23196FAD59B4}"/>
              </a:ext>
            </a:extLst>
          </p:cNvPr>
          <p:cNvSpPr txBox="1"/>
          <p:nvPr/>
        </p:nvSpPr>
        <p:spPr>
          <a:xfrm>
            <a:off x="863600" y="1041400"/>
            <a:ext cx="10464800" cy="415498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，是一段內在旅程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0E00C4B-1C82-9051-E1A5-7DEC12AB40BA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3748CE9-A5F9-4107-D60A-28933BE8105E}"/>
              </a:ext>
            </a:extLst>
          </p:cNvPr>
          <p:cNvSpPr txBox="1"/>
          <p:nvPr/>
        </p:nvSpPr>
        <p:spPr>
          <a:xfrm>
            <a:off x="1549400" y="2073040"/>
            <a:ext cx="9093200" cy="105926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9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意圖 → 卡點 → 看見 → 穩定</a:t>
            </a:r>
          </a:p>
          <a:p>
            <a:pPr algn="ctr">
              <a:spcAft>
                <a:spcPts val="700"/>
              </a:spcAft>
            </a:pPr>
            <a:r>
              <a:rPr lang="zh-TW" altLang="en-US" sz="29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→ 選擇 → 行動 → 承擔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E901185-E749-C3F7-DCDD-599E43DE4106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3451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8A658A5-D001-8B10-4236-AF70FB55A630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5F23BE-85D0-F76A-6589-80FBDB93DD8F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7BB7A6D-AA37-84D4-F569-3BDD31A11AD5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2035BAD-5DD9-39AF-FE1B-32BF4348875E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CF11029-B188-37FD-692A-0DBF73C53887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09CC6F-5E93-9300-2C06-738194115442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全心全意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5A4AB9-92B8-C6D6-022C-A84E43DE1B8F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57D01F2-F12F-33D1-4A6D-302D6C587638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我真正想投入的是什麼？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核心：意圖・投入・渴望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受阻：動搖・退卻・能量不足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870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E12423E-8326-85E6-1ABC-A32166EFFBA5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20FDEF-3E45-3F2D-74F4-034B7179EEB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E2557BE-84D0-3B19-15F4-FE5E8F01FCC2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E652A8D-641D-9F8E-7C2F-347C77AC65E0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3A899C7-8F43-F0CC-7EAB-17AFBB30E3F4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BD9FBD3-87D1-D039-516B-E324B3B80163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鬼惑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6BF911-6781-8A5A-79F7-F6911F4A284D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1F2DB03-7E29-4A06-E3A6-08A559ED71F2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現在干擾我的因素是什麼？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核心：干擾・質疑・內外衝突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受阻：猜疑・對立・焦慮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2341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399ADC9-432A-5F51-9CC5-E08F10E293D1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FB348A-3885-F790-CC3D-93E1972AF399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34CD919-BBDB-3594-21C0-5D2BE7DD036D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2D70DA8-3E01-FFB2-2A5C-7655101F933E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AF6FAD7-13CA-55A7-26B1-2C7397B891B5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FC4BCE9-EEBC-4ACE-D7D5-7ACCB376A705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自覺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C12C57C-93F8-29DE-8B4D-D1F0A5F438AB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9F35FAB-6902-D6F6-452D-9EAE78527C3F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哪個想法需要被釐清？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核心：思考・規劃・看見內在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受阻：過度思考・反覆・單方面想像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2529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FBA3B37-60AD-1DFD-5809-1784FD6D6223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BE4AF4-F531-4F01-1CDB-7D8024B0B834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7DF72F2-72B4-9026-E4CA-A0DDB1500333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DF131E-C2D3-75EE-44B3-BE94BAA44257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2032FE2-DA11-027B-6D0B-23175944F252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9E3968-2A83-E053-A4EF-35BF429FCC6B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風之塵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7239F47-A35F-FE2F-8541-3DA1477A6F9C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9E7125-1DCB-A6D0-E383-7AEBECDD3BA6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我需要順應或穩住什麼？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核心：變動・鬆動・轉換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受阻：漂浮・混亂・失去方向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95616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A89A490-62BB-4386-9980-40BCFF1BE774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4B31CE-C981-4A01-0988-2EBD9BC2B4C6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992A1E6-0D23-DFE6-825A-DB180121E054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C76A649-70AB-ECED-BEF2-08FA5B2E42E9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87BA305-90A2-FF4D-B96C-D1EB74B6403B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B2D7A13-A0B4-82F5-4D88-559EF3B33B2F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磐石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CA472CC-6B62-1C11-C59D-6CE93E8FD94B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3AA276E-B33A-BE46-B93B-327F7A40F1AC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什麼基礎需要先建立？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核心：基礎・穩定・歸屬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受阻：基礎不足・結構鬆動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28376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22D065B-DB57-D5EE-67B2-64B45FD33165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8FB6C3-A881-0ADE-A266-7705B75BD816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8232BD6-67BB-6BB3-713C-1817B95D02C9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E07B47-551B-EE91-9C49-C4468191F9FF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DF55857-EB63-156E-34F2-DC7514EE9F45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8611379-48CC-8C39-B776-D217178B59C1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難解之結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9678ECD-EE24-5A17-9ECC-945AEFA17452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C406939-AED9-693C-8992-C147B872EDA3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這個結由哪些因素構成？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核心：困難・卡點・需要解結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受阻：僵局・無力・看不到出口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8441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F194025-5708-F4D4-9547-658C098689AC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8C4315-8FE4-725A-20E8-4823134297C1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945AE1-115A-2F7D-2501-71219313D670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160D688-82BC-3F9F-6C98-AA6227FF3CBD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D1A945A-41B5-A648-7D2B-8656738A448F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FF5FF84-0C75-4B73-3BCA-9717F61301D7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美麗的彩虹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646C125-DFE0-7A1B-EA4A-7E259834B57C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E84EC49-2903-D159-14FE-F0E78D82AD48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願景與現況之間還差什麼？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核心：希望・願景・遠方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受阻：理想化・落空・逃避現況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8803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B78A647-9D41-CAD5-BDE4-ADC13160874A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7E766F-2E47-3142-99CD-4BEB1F77D5A0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BCF5EE8-F785-D3EC-E30F-F5F643B7A869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81B3C19-B5EE-BCB5-3A2A-C3384BB5EFFC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EE87397-FE6B-C37B-E5E6-4A846AE2D736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BD2B391-4CA1-8109-EB31-5683B4F78FC0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滿月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6ECC007-BD50-A7B8-B5F1-DE3FA92F5DE9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4AB074B-53AD-AE96-FDE5-214080A990CC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什麼已成熟？什麼仍需等待？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核心：成熟・圓滿・可實現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受阻：延遲・忽明忽暗・時好時壞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8859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527D1F-C623-7755-8BF6-229B88685E97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27BDDE-084E-F614-E0C7-9AF7D30B161A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5CF434E-BFF7-E036-920F-852537DB0321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21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E508087-A259-8E31-D3BC-10922F25D6DF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3C7EACD-CA57-3FBD-F3CE-F62FD23AC1D6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51E4577-5994-C280-4E3A-A146D3FD4F22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利斧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55E748-91F0-D41E-9020-8D213E10D679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7CFE256-C523-E66A-2D6D-18D5854B63BB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我該處理、停止或割捨什麼？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核心：工具・切割・處理・選擇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受阻：衝突・過度用力・破壞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57657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48D2926E-8866-6C24-F362-C3F9B07BE2B8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7B4FE8-6F65-4EB3-6988-62C5F134CA4B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3EE8A44-21B1-AD04-BAA9-ECBE7F8C26A8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22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B156CEA-BB5B-952E-A05C-0B8119FAC0DC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D976700-E2DF-6F26-B96C-4D5E17285ADA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DD4F85E-3F59-F044-5C6F-DF7A51E6E8F2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財富之神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0FF7351-77F6-9838-4366-8BE37577C8CD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3793D87-58D0-3757-24CC-91E31EE09F18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我真正擁有與重視的是什麼？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核心：價值・資源・富足・自得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受阻：資源焦慮・無力・失去價值感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7649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248ACC9-7B67-98AD-FA52-563F96C631D4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E7436D-3F86-4138-B439-4692E70C4BB5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1F5FEE5-9B21-9829-A05E-CA1BBAFBBD72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23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7253BC9-4C7F-8981-70A6-31AF57B001D4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58C73C9-5B23-CD72-5EA4-B16907CDFA2A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431D680-A741-F5BE-DBD6-79840D41121B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精銳戰士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493826-EB35-7B81-843D-1A4EDDFC9292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65BF64A-51CC-3D3B-F1E1-6B8E4E922241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哪個能力或夥伴能推進事情？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核心：技能・執行・夥伴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受阻：衝動・背離承諾・攻擊性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2160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3E18A95-9680-3B22-04CE-80433DFCC76A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247E75-8414-FDA7-2EBB-700A8B3F4925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2E7C949-8BCA-2080-2D9D-6611F49CF4D8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24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AD2CECD-47AD-750E-6C9E-883C6C657F8B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B32DD04-AC1E-D908-BADB-50ABCF0BF63F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AD5BF92-9BD9-D3BA-AA3D-6C061DF2B290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皇后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C9BD67D-FBE1-4EE4-0B1D-3A38D858379C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E236D14-EEFD-C8AA-8CFD-96F34867D530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我需要做出什麼成熟決定？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核心：自信・決策・整合・影響力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受阻：極端・控制・操弄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4302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8991F64-DF7A-1DB3-922D-F8798DE741DE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523327-7C3C-D7EF-56CD-3D7E5EB952A5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27C01DA-2EF9-5E4D-BEC2-62AD35D6C33A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25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D26298B-079B-4E55-9494-C7CB163AF226}"/>
              </a:ext>
            </a:extLst>
          </p:cNvPr>
          <p:cNvSpPr/>
          <p:nvPr/>
        </p:nvSpPr>
        <p:spPr>
          <a:xfrm>
            <a:off x="914400" y="1371600"/>
            <a:ext cx="3149600" cy="4368800"/>
          </a:xfrm>
          <a:prstGeom prst="roundRect">
            <a:avLst/>
          </a:prstGeom>
          <a:solidFill>
            <a:srgbClr val="FFFDFC"/>
          </a:solidFill>
          <a:ln w="27940">
            <a:solidFill>
              <a:srgbClr val="C398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D57A8B-12CF-FDCA-F0FA-F7CD2D6FAC2F}"/>
              </a:ext>
            </a:extLst>
          </p:cNvPr>
          <p:cNvSpPr txBox="1"/>
          <p:nvPr/>
        </p:nvSpPr>
        <p:spPr>
          <a:xfrm>
            <a:off x="1219200" y="1676400"/>
            <a:ext cx="2540000" cy="100027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en-US" altLang="zh-TW" sz="6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endParaRPr lang="zh-TW" altLang="en-US" sz="6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50E04FE-2A27-1777-1F14-575EFC9F3792}"/>
              </a:ext>
            </a:extLst>
          </p:cNvPr>
          <p:cNvSpPr txBox="1"/>
          <p:nvPr/>
        </p:nvSpPr>
        <p:spPr>
          <a:xfrm>
            <a:off x="1168400" y="3416300"/>
            <a:ext cx="2641600" cy="430887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3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國王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45122AE-62A4-01DF-2261-0191BB330926}"/>
              </a:ext>
            </a:extLst>
          </p:cNvPr>
          <p:cNvSpPr txBox="1"/>
          <p:nvPr/>
        </p:nvSpPr>
        <p:spPr>
          <a:xfrm>
            <a:off x="1257300" y="4711700"/>
            <a:ext cx="2463800" cy="3693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1900">
                <a:solidFill>
                  <a:srgbClr val="C97F7A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♠  ♥  ♦  ♣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C4BF7FE-C9F9-5CAE-2C93-A4B28AE53291}"/>
              </a:ext>
            </a:extLst>
          </p:cNvPr>
          <p:cNvSpPr txBox="1"/>
          <p:nvPr/>
        </p:nvSpPr>
        <p:spPr>
          <a:xfrm>
            <a:off x="4699000" y="1236951"/>
            <a:ext cx="63500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我如何承擔並建立信任？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核心：權威・承擔・信任・格局</a:t>
            </a:r>
          </a:p>
          <a:p>
            <a:pPr>
              <a:spcAft>
                <a:spcPts val="700"/>
              </a:spcAft>
            </a:pPr>
            <a:r>
              <a:rPr lang="ja-JP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受阻：控制過度・支撐不足・結構鬆動</a:t>
            </a:r>
            <a:endParaRPr lang="zh-TW" altLang="en-US" sz="250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439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887ED0C-7B2C-3C37-A1A4-484C93088B7D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E893B-34D1-63D0-07F6-3D8AF661150A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B72893-B145-2071-5FB4-F93AAA3B58E9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26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EED2B06-D21B-ABB0-9576-D023A7B8707B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從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 </a:t>
            </a: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走到 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endParaRPr lang="zh-TW" altLang="en-US" sz="3000" b="1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446B8-5617-CFC9-8D2C-69CC2BBAF28C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8D0AEE3-DCE4-AF6B-318B-05AEB4B5974B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6645A2D-DEB6-D751-A6C1-8D6CBA3C528F}"/>
              </a:ext>
            </a:extLst>
          </p:cNvPr>
          <p:cNvSpPr txBox="1"/>
          <p:nvPr/>
        </p:nvSpPr>
        <p:spPr>
          <a:xfrm>
            <a:off x="1117600" y="2444216"/>
            <a:ext cx="9804400" cy="18851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A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：探索與看見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5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：穩定與轉化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9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：選擇與價值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J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：執行、整合與承擔</a:t>
            </a:r>
          </a:p>
        </p:txBody>
      </p:sp>
    </p:spTree>
    <p:extLst>
      <p:ext uri="{BB962C8B-B14F-4D97-AF65-F5344CB8AC3E}">
        <p14:creationId xmlns:p14="http://schemas.microsoft.com/office/powerpoint/2010/main" val="1288596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B6C69CF-FE76-5D1C-849A-C76FE5E90378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102F71-8057-24E8-FEBA-C3E4D68FC933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8AB54AB-6514-92A2-A3FF-E4F3D2A0B4C9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27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3E3926-9BB2-EF5D-2472-EA356880ACB0}"/>
              </a:ext>
            </a:extLst>
          </p:cNvPr>
          <p:cNvSpPr txBox="1"/>
          <p:nvPr/>
        </p:nvSpPr>
        <p:spPr>
          <a:xfrm>
            <a:off x="863600" y="1041400"/>
            <a:ext cx="10464800" cy="415498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從牌義，走向好問題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369F8106-E6D1-4CC5-3333-704A91F5FFDA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73C0C6-5446-0453-EC12-FF5CB4A3F37A}"/>
              </a:ext>
            </a:extLst>
          </p:cNvPr>
          <p:cNvSpPr txBox="1"/>
          <p:nvPr/>
        </p:nvSpPr>
        <p:spPr>
          <a:xfrm>
            <a:off x="1549400" y="2073040"/>
            <a:ext cx="9093200" cy="105926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9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問題越清楚，</a:t>
            </a:r>
          </a:p>
          <a:p>
            <a:pPr algn="ctr">
              <a:spcAft>
                <a:spcPts val="700"/>
              </a:spcAft>
            </a:pPr>
            <a:r>
              <a:rPr lang="zh-TW" altLang="en-US" sz="29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牌面越容易成為可用的提醒。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182AEEEF-9E0E-1F3E-36AA-AE09438CA9F2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3090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4313F07-EBCB-61C1-7753-1B1354AEDF9B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E6B454-7C8C-7494-6218-ADBE781C07ED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1DAA20B-55B1-972B-A4E4-BE133943352C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28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03F4BCF-B77B-1B88-888B-90355496B2A9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好問題的四個元素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01804D-40E2-24FC-F3D3-7205F7C22544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BB069AF-4790-9525-03B9-C73CB47CFB08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DAD5DA6-333D-0DA7-7FA6-B4935834662C}"/>
              </a:ext>
            </a:extLst>
          </p:cNvPr>
          <p:cNvSpPr txBox="1"/>
          <p:nvPr/>
        </p:nvSpPr>
        <p:spPr>
          <a:xfrm>
            <a:off x="1117600" y="2538109"/>
            <a:ext cx="98044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 ＋ 具體情境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 想看見的面向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 可採取的行動</a:t>
            </a:r>
          </a:p>
        </p:txBody>
      </p:sp>
    </p:spTree>
    <p:extLst>
      <p:ext uri="{BB962C8B-B14F-4D97-AF65-F5344CB8AC3E}">
        <p14:creationId xmlns:p14="http://schemas.microsoft.com/office/powerpoint/2010/main" val="11541596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A36E66A-E800-8081-A982-A423B54EAE08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F9003C-9C40-E4B0-EFCB-E90BFDE5C6AE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21C87E3-9F52-78A7-8D77-9AD0092BB34F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29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08E0E8A-3310-B192-7420-4D8F77FC6E5F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用幾張牌？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6B41FF-8922-8DD5-8F1C-80DB265279F0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37272CE-E8EE-2F47-DA6E-A974B5B6D991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BB83EBD-0F37-9E34-BE8D-DB547102936D}"/>
              </a:ext>
            </a:extLst>
          </p:cNvPr>
          <p:cNvSpPr txBox="1"/>
          <p:nvPr/>
        </p:nvSpPr>
        <p:spPr>
          <a:xfrm>
            <a:off x="1117600" y="2486434"/>
            <a:ext cx="9804400" cy="18851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1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張：當下狀態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2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張：影響／回應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3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張：現況／卡點／下一步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4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張：關係、合作、複雜議題</a:t>
            </a:r>
          </a:p>
        </p:txBody>
      </p:sp>
    </p:spTree>
    <p:extLst>
      <p:ext uri="{BB962C8B-B14F-4D97-AF65-F5344CB8AC3E}">
        <p14:creationId xmlns:p14="http://schemas.microsoft.com/office/powerpoint/2010/main" val="978025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9699456-3C34-3855-A33E-64285F8AE685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7C4A95-F855-AB3C-162C-0A0FFBEE07FC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57AFF6-C772-63F9-DDEC-7624377019DA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30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C2B91D1-A1D1-1751-8B36-08182E566BCD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雙張核心牌陣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8BA7D0-CE1B-36A8-C6FA-6A64081C719F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0F3A41C-1F10-A39A-1A76-3D460AF598A4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29E925-E511-8F9A-6453-968C97BE0088}"/>
              </a:ext>
            </a:extLst>
          </p:cNvPr>
          <p:cNvSpPr txBox="1"/>
          <p:nvPr/>
        </p:nvSpPr>
        <p:spPr>
          <a:xfrm>
            <a:off x="1193800" y="2286995"/>
            <a:ext cx="9804400" cy="93615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第一張：影響因素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第二張：可採取的回應</a:t>
            </a:r>
          </a:p>
        </p:txBody>
      </p:sp>
    </p:spTree>
    <p:extLst>
      <p:ext uri="{BB962C8B-B14F-4D97-AF65-F5344CB8AC3E}">
        <p14:creationId xmlns:p14="http://schemas.microsoft.com/office/powerpoint/2010/main" val="1694483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80F6CFC-A3A2-6B64-82DF-2511AD525C83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7F5A2D-3F76-8529-E4D1-254F6227AED8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8FFEEC0-309E-15B2-97AE-E60F6E0E3C56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31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E3F04E3-30CC-5DB7-43CC-009556877705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三張故事牌陣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7A1FB8-8DDA-E698-04B1-B6CECE61218E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C5D4578-FAE8-92A2-4C1C-DAA61E4FABEF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D7B89A0-BA16-A86C-6408-DA36649E832E}"/>
              </a:ext>
            </a:extLst>
          </p:cNvPr>
          <p:cNvSpPr txBox="1"/>
          <p:nvPr/>
        </p:nvSpPr>
        <p:spPr>
          <a:xfrm>
            <a:off x="1193800" y="2286995"/>
            <a:ext cx="9804400" cy="93615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現況 → 卡點 → 下一步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用三句話，說出一個可核對的故事。</a:t>
            </a:r>
          </a:p>
        </p:txBody>
      </p:sp>
    </p:spTree>
    <p:extLst>
      <p:ext uri="{BB962C8B-B14F-4D97-AF65-F5344CB8AC3E}">
        <p14:creationId xmlns:p14="http://schemas.microsoft.com/office/powerpoint/2010/main" val="23344260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BCDB595-95C1-C894-7811-C021EF92EEDB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B98938-523C-48D0-2008-A7462F5DDDBD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641F8C8-7FCF-7170-E9C2-F0928099D3A8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32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404E4C6-4D31-FBD0-B48F-7DBA405D7162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張進階牌陣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14CA59-6D2F-77F7-882F-764D15E05231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F3B06FC-E406-AF39-004E-E8E2CC28AC89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4387D06-3FC9-B775-7F0E-CC35D9551633}"/>
              </a:ext>
            </a:extLst>
          </p:cNvPr>
          <p:cNvSpPr txBox="1"/>
          <p:nvPr/>
        </p:nvSpPr>
        <p:spPr>
          <a:xfrm>
            <a:off x="1193800" y="2578238"/>
            <a:ext cx="98044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關係：自己／對方／互動／調整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合作：目標／資源／阻礙／行動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複雜議題：內在／外在／動機／壓力／資源／下一步</a:t>
            </a:r>
          </a:p>
        </p:txBody>
      </p:sp>
    </p:spTree>
    <p:extLst>
      <p:ext uri="{BB962C8B-B14F-4D97-AF65-F5344CB8AC3E}">
        <p14:creationId xmlns:p14="http://schemas.microsoft.com/office/powerpoint/2010/main" val="25213980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BB3F1F3-4ED4-E0FF-8ADC-C1E2DDD7ACC6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B626DC-EB06-E1B5-4F93-CAEF89AB53A5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55A46CA-9E2C-63FB-02B6-7B09F51ED059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33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B242DD-B144-FF9F-B2D8-D247D134D48B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六步解讀法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735718-9B6F-06E1-26B8-513B69785389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48F76B5-1C6B-9349-C837-0B918D8CA688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603399F-6D2E-A017-C158-7AD68F0C948C}"/>
              </a:ext>
            </a:extLst>
          </p:cNvPr>
          <p:cNvSpPr txBox="1"/>
          <p:nvPr/>
        </p:nvSpPr>
        <p:spPr>
          <a:xfrm>
            <a:off x="1193800" y="2286995"/>
            <a:ext cx="9804400" cy="93615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問題 → 位置 → 數字</a:t>
            </a:r>
          </a:p>
          <a:p>
            <a:pPr>
              <a:spcAft>
                <a:spcPts val="700"/>
              </a:spcAft>
            </a:pPr>
            <a:r>
              <a:rPr lang="zh-TW" altLang="en-US" sz="250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→ 花色 → 組合 → 核對</a:t>
            </a:r>
          </a:p>
        </p:txBody>
      </p:sp>
    </p:spTree>
    <p:extLst>
      <p:ext uri="{BB962C8B-B14F-4D97-AF65-F5344CB8AC3E}">
        <p14:creationId xmlns:p14="http://schemas.microsoft.com/office/powerpoint/2010/main" val="4178507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572617C-9FA8-6A14-8D6A-A7F504C60A3C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E70F52-2A17-4270-B807-13235845C7EF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1BF116C-D17E-63BA-808E-0608F9865AAE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34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522D11B-A574-B4AB-5292-A2BCE07B6422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特殊組合，不用一組一組硬背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CCF12E-F437-62FE-3798-02F97FB22EB3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26C42AF-780A-0EE5-FDAB-8481DFAED727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EB66362-3266-52CB-3A30-2E785B0FAE26}"/>
              </a:ext>
            </a:extLst>
          </p:cNvPr>
          <p:cNvSpPr txBox="1"/>
          <p:nvPr/>
        </p:nvSpPr>
        <p:spPr>
          <a:xfrm>
            <a:off x="1193800" y="2594384"/>
            <a:ext cx="9804400" cy="18851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雙數字：主題被放大或重複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9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＋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J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：工具遇上執行或決策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J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／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：合作、角色與權力互動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•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最終語意仍回到位置與情境</a:t>
            </a:r>
          </a:p>
        </p:txBody>
      </p:sp>
    </p:spTree>
    <p:extLst>
      <p:ext uri="{BB962C8B-B14F-4D97-AF65-F5344CB8AC3E}">
        <p14:creationId xmlns:p14="http://schemas.microsoft.com/office/powerpoint/2010/main" val="36509171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E2F0B10-0530-9EB5-6E1F-7EF3DFF9ABB4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B836D5-3E38-21FC-7974-B3F31FEA3598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C3A05B5-6F1F-A1E7-E38D-AF31A597235B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35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CD9A91-904B-DB6F-AF48-B0C9962A1984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資訊不夠時，不追抽到滿意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F719053-EB66-CB9D-F1D9-1D00C9F1D5B2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B2B78F65-6255-07DE-0AA7-6C8638DC8588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4CF5825-3A8A-0230-D5A1-134159CB7395}"/>
              </a:ext>
            </a:extLst>
          </p:cNvPr>
          <p:cNvSpPr txBox="1"/>
          <p:nvPr/>
        </p:nvSpPr>
        <p:spPr>
          <a:xfrm>
            <a:off x="1193800" y="2486434"/>
            <a:ext cx="9804400" cy="1885131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先回到問題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→ 補充情境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→ 必要時只補一張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→ 仍不清楚就停止</a:t>
            </a:r>
          </a:p>
        </p:txBody>
      </p:sp>
    </p:spTree>
    <p:extLst>
      <p:ext uri="{BB962C8B-B14F-4D97-AF65-F5344CB8AC3E}">
        <p14:creationId xmlns:p14="http://schemas.microsoft.com/office/powerpoint/2010/main" val="31291456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C4E421F-22B0-EE99-26EB-1277F677D587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95A3EE-0590-8B95-E1FC-543AEDB5857A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27561E5-F6B2-C234-3885-B4D640845E74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36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268566C-BE76-C014-A384-A62B9497A3DF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練習：從抽牌到下一步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2409C4-E122-FDAF-3AA9-C9A0586258B9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0C16491F-41F8-72EF-13E5-B552CB1639B6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1BDBCED-9C42-C089-2DC4-8AD886DCFDE0}"/>
              </a:ext>
            </a:extLst>
          </p:cNvPr>
          <p:cNvSpPr txBox="1"/>
          <p:nvPr/>
        </p:nvSpPr>
        <p:spPr>
          <a:xfrm>
            <a:off x="1346200" y="2552700"/>
            <a:ext cx="9804400" cy="2359620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寫下一個具體問題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抽 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～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張牌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說出數字、花色與位置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4.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組成三句話</a:t>
            </a:r>
          </a:p>
          <a:p>
            <a:pPr>
              <a:spcAft>
                <a:spcPts val="700"/>
              </a:spcAft>
            </a:pP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5. </a:t>
            </a: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留下一個可行動的提醒</a:t>
            </a:r>
          </a:p>
        </p:txBody>
      </p:sp>
    </p:spTree>
    <p:extLst>
      <p:ext uri="{BB962C8B-B14F-4D97-AF65-F5344CB8AC3E}">
        <p14:creationId xmlns:p14="http://schemas.microsoft.com/office/powerpoint/2010/main" val="2610964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59DCE4A-CBB9-44CB-AADC-B55F657F717D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375FCB-0F6A-D093-8F8F-29815832B7B7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AA0B529-947F-C177-C830-C5D518443DBC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37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321EE05-94AE-0B27-E6A4-B42411D40280}"/>
              </a:ext>
            </a:extLst>
          </p:cNvPr>
          <p:cNvSpPr txBox="1"/>
          <p:nvPr/>
        </p:nvSpPr>
        <p:spPr>
          <a:xfrm>
            <a:off x="787400" y="965200"/>
            <a:ext cx="10414000" cy="5386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3000" b="1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三句引導語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BF3211-9141-70CB-4873-8D075E854F99}"/>
              </a:ext>
            </a:extLst>
          </p:cNvPr>
          <p:cNvSpPr/>
          <p:nvPr/>
        </p:nvSpPr>
        <p:spPr>
          <a:xfrm>
            <a:off x="787400" y="1854200"/>
            <a:ext cx="1117600" cy="63500"/>
          </a:xfrm>
          <a:prstGeom prst="rect">
            <a:avLst/>
          </a:prstGeom>
          <a:solidFill>
            <a:srgbClr val="C398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6D5DD0A-3C6D-5FCD-F60E-721F23D6F9B8}"/>
              </a:ext>
            </a:extLst>
          </p:cNvPr>
          <p:cNvSpPr/>
          <p:nvPr/>
        </p:nvSpPr>
        <p:spPr>
          <a:xfrm>
            <a:off x="787400" y="2247900"/>
            <a:ext cx="10617200" cy="35306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28BEBCE-1AE2-23C0-4730-272E540E15C9}"/>
              </a:ext>
            </a:extLst>
          </p:cNvPr>
          <p:cNvSpPr txBox="1"/>
          <p:nvPr/>
        </p:nvSpPr>
        <p:spPr>
          <a:xfrm>
            <a:off x="1193800" y="2552700"/>
            <a:ext cx="9804400" cy="1410643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這組牌呈現出</a:t>
            </a:r>
            <a:r>
              <a:rPr lang="en-US" altLang="zh-TW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……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這和你的經驗有哪些相符？</a:t>
            </a:r>
          </a:p>
          <a:p>
            <a:pPr>
              <a:spcAft>
                <a:spcPts val="700"/>
              </a:spcAft>
            </a:pPr>
            <a:r>
              <a:rPr lang="zh-TW" altLang="en-US" sz="2500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如果把它當成提醒，你想先調整哪一步？</a:t>
            </a:r>
          </a:p>
        </p:txBody>
      </p:sp>
    </p:spTree>
    <p:extLst>
      <p:ext uri="{BB962C8B-B14F-4D97-AF65-F5344CB8AC3E}">
        <p14:creationId xmlns:p14="http://schemas.microsoft.com/office/powerpoint/2010/main" val="20908514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1075AC14-5B03-3B24-18C7-DEF135BCBFB0}"/>
              </a:ext>
            </a:extLst>
          </p:cNvPr>
          <p:cNvSpPr txBox="1"/>
          <p:nvPr/>
        </p:nvSpPr>
        <p:spPr>
          <a:xfrm>
            <a:off x="685800" y="279400"/>
            <a:ext cx="5334000" cy="230832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zh-TW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HOPE LIGHT</a:t>
            </a:r>
            <a:r>
              <a:rPr lang="zh-TW" altLang="en-US" sz="1000" b="1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｜掌運卡映照課程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7CFA65-E7B8-E779-8D9B-676A6C3AE727}"/>
              </a:ext>
            </a:extLst>
          </p:cNvPr>
          <p:cNvSpPr/>
          <p:nvPr/>
        </p:nvSpPr>
        <p:spPr>
          <a:xfrm>
            <a:off x="685800" y="635000"/>
            <a:ext cx="10820400" cy="25400"/>
          </a:xfrm>
          <a:prstGeom prst="rect">
            <a:avLst/>
          </a:prstGeom>
          <a:solidFill>
            <a:srgbClr val="EFE1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B15A18C-C701-2B2F-8DA7-FCBB397CBCA2}"/>
              </a:ext>
            </a:extLst>
          </p:cNvPr>
          <p:cNvSpPr txBox="1"/>
          <p:nvPr/>
        </p:nvSpPr>
        <p:spPr>
          <a:xfrm>
            <a:off x="9144000" y="6413500"/>
            <a:ext cx="2362200" cy="215444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lang="en-US" altLang="zh-TW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38  ·  v0.1 </a:t>
            </a:r>
            <a:r>
              <a:rPr lang="zh-TW" altLang="en-US" sz="900">
                <a:solidFill>
                  <a:srgbClr val="6F746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講師草稿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2B96196-9ACE-082E-CBE3-4E467909A474}"/>
              </a:ext>
            </a:extLst>
          </p:cNvPr>
          <p:cNvSpPr txBox="1"/>
          <p:nvPr/>
        </p:nvSpPr>
        <p:spPr>
          <a:xfrm>
            <a:off x="863600" y="1041400"/>
            <a:ext cx="10464800" cy="415498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t">
            <a:spAutoFit/>
          </a:bodyPr>
          <a:lstStyle/>
          <a:p>
            <a:pPr>
              <a:spcAft>
                <a:spcPts val="700"/>
              </a:spcAft>
            </a:pPr>
            <a:r>
              <a:rPr lang="zh-TW" altLang="en-US" sz="2200" b="1">
                <a:solidFill>
                  <a:srgbClr val="C3985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運在手中，心之所向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BC898F4-8387-A9E3-CA75-988CF5F28843}"/>
              </a:ext>
            </a:extLst>
          </p:cNvPr>
          <p:cNvSpPr/>
          <p:nvPr/>
        </p:nvSpPr>
        <p:spPr>
          <a:xfrm>
            <a:off x="1066800" y="2006600"/>
            <a:ext cx="10058400" cy="31750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EFE1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4A1AF95-FEBA-95FB-A4AE-D777922C4D8E}"/>
              </a:ext>
            </a:extLst>
          </p:cNvPr>
          <p:cNvSpPr txBox="1"/>
          <p:nvPr/>
        </p:nvSpPr>
        <p:spPr>
          <a:xfrm>
            <a:off x="1549400" y="2589127"/>
            <a:ext cx="9093200" cy="1595309"/>
          </a:xfrm>
          <a:prstGeom prst="rect">
            <a:avLst/>
          </a:prstGeom>
          <a:noFill/>
        </p:spPr>
        <p:txBody>
          <a:bodyPr vert="horz" wrap="square" lIns="50800" tIns="38100" rIns="50800" bIns="38100" rtlCol="0" anchor="ctr">
            <a:spAutoFit/>
          </a:bodyPr>
          <a:lstStyle/>
          <a:p>
            <a:pPr algn="ctr">
              <a:spcAft>
                <a:spcPts val="700"/>
              </a:spcAft>
            </a:pPr>
            <a:r>
              <a:rPr lang="zh-TW" altLang="en-US" sz="2900" b="1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看見，不是被定義。</a:t>
            </a:r>
          </a:p>
          <a:p>
            <a:pPr algn="ctr">
              <a:spcAft>
                <a:spcPts val="700"/>
              </a:spcAft>
            </a:pPr>
            <a:r>
              <a:rPr lang="zh-TW" altLang="en-US" sz="2900" b="1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選擇，才是掌運的開始。</a:t>
            </a:r>
          </a:p>
          <a:p>
            <a:pPr algn="ctr">
              <a:spcAft>
                <a:spcPts val="700"/>
              </a:spcAft>
            </a:pPr>
            <a:r>
              <a:rPr lang="en-US" altLang="zh-TW" sz="2900" b="1" dirty="0">
                <a:solidFill>
                  <a:srgbClr val="273246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Q&amp;A</a:t>
            </a:r>
            <a:endParaRPr lang="zh-TW" altLang="en-US" sz="2900" b="1" dirty="0">
              <a:solidFill>
                <a:srgbClr val="273246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B286312F-90D5-E258-F15A-4C1EEB1CFB31}"/>
              </a:ext>
            </a:extLst>
          </p:cNvPr>
          <p:cNvSpPr/>
          <p:nvPr/>
        </p:nvSpPr>
        <p:spPr>
          <a:xfrm>
            <a:off x="5537200" y="5537200"/>
            <a:ext cx="1117600" cy="1117600"/>
          </a:xfrm>
          <a:prstGeom prst="ellipse">
            <a:avLst/>
          </a:prstGeom>
          <a:solidFill>
            <a:srgbClr val="F1D9D5">
              <a:alpha val="7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653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2548</Words>
  <Application>Microsoft Office PowerPoint</Application>
  <PresentationFormat>寬螢幕</PresentationFormat>
  <Paragraphs>341</Paragraphs>
  <Slides>38</Slides>
  <Notes>38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3" baseType="lpstr">
      <vt:lpstr>Microsoft JhengHei UI</vt:lpstr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Ta-loom Hwang</dc:creator>
  <cp:lastModifiedBy>Ta-loom Hwang</cp:lastModifiedBy>
  <cp:revision>2</cp:revision>
  <dcterms:created xsi:type="dcterms:W3CDTF">2026-08-25T03:06:35Z</dcterms:created>
  <dcterms:modified xsi:type="dcterms:W3CDTF">2026-08-25T03:15:24Z</dcterms:modified>
</cp:coreProperties>
</file>