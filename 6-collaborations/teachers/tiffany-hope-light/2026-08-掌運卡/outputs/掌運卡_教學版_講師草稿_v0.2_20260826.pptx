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5EB87-B337-412B-95B3-B6CAB37AC2EB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416D8-265E-4D22-A8BB-0EAB685275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3956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沿用老師原封面文字。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5591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老師的開場故事，原文保留。可在此停一下，讓學員感覺這副牌不是新發明的工具，而是一條走了很久的路。收尾句：「而掌運卡，便是在這條古老的路上，拾起屬於我們自己的答案。」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6256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老師原文。「慧、智」兩層可展開說明：一是智力與思考力，二是對人有啟發、引導他人深刻洞察。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1268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這是整堂課的定位句，建議在課程開頭與結尾各說一次。學員之後每一次覺得「牌好像在宣判我」時，就回到這一句。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0922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老師原簡報中，句子寫「勢」，圖與說明頁寫「識」，**請老師確認正式版採用哪一個字**（見決策單第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題）。此頁先留空位。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686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老師原表，完整保留。每一字後面的「沒有○，就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…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」可口述：沒有道容易迷失、沒有法理想無法落地、沒有術難以靈活達成、沒有器執行受限、沒有識容易誤判、沒有志途中耗竭。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0928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老師原文。可補一句：「以雙手承接每一次提問，憑內心的呼喚，選出當下最有感應的牌卡。」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
#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第二部｜問牌需知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740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老師原文的三句口訣。「玩過遊戲的牌要分別」也在這裡提醒。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1372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老師原文。這一頁是後面「好問題」的基礎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先確定人事時地物，牌才有對焦的東西。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577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老師原文。「一事不二問」與「可改變問法」不衝突：不重複抽到滿意為止，但可以把問題問得更清楚再來一次。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866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這一頁是老師原本就有的規矩（原簡報「問牌需知」）。建議把它從備註提到正式一頁，並且說明理由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不是限制學員，是保護學員與被問的人。後面牌義章節若出現與這四項相衝突的內容，以這一頁為準。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25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老師原文。「不可說話、邊說邊問」要特別提醒，這是很多學員一開始會犯的。前因有好有壞：好的前因表示目前樂觀，壞的前因表示目前有困難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但要看第二張，結論才知最後結果。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
#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第三部｜紙牌的秘密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583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老師原內容。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Joker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兩張不屬於四大花色，使用前要取出。這一頁很受學員喜歡，可以當作花色章節的引子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因為它先讓人相信這副牌本來就有結構。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
#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第四部｜四種花色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3451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老師原用語為「紅磚」與「黑梅」，正式版沿用。英文拼法是否更正為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Clubs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，見決策單第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題。可補老師原句：「花色有無限的延展，問題有無限的發展。」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909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老師原關鍵字。這裡有一個很值得講的重點：黑桃詳解頁幾乎全是正向的（堅定、勇氣、強而有力），但總覽頁寫的是「固執、壓力」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——**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這不是兩套定義，是同一份力量的兩個方向**。向內是堅定，向外用過頭就是不易靠近。老師原文最後一句「給身邊的人一種嚴肅不易靠近的」，正好就是這個轉折點。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2999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老師原關鍵字。提醒學員：紅心描述的是關係與感受層面，不必把它限定成某個性別。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9860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老師原關鍵字。可補：「主動帶動氣氛、樂觀、講話很有力道、看到問題喜歡給人意見。」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8206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老師原關鍵字。這是四個花色裡份量最重的一個，因為它同時是「花色」也是「訊號」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下一頁專門講這件事。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7211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這一頁是把老師原本散在各個組合頁裡的規則收成一條。老師在雙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、雙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、雙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等頁面都寫過「只要黑梅不是出現在後」「若黑梅在後」，也寫過「黑梅第一張才是好牌」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那其實是同一條規則，只是原本沒有單獨列出來。先講清楚這一條，後面的特殊組合就不必一組一組硬背。
**若這條規則與老師的實際教法有出入，以老師為準**（見決策單第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題）。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
#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第五部｜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到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：探索自我之路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25990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老師原本的旅程敘事。建議整段唸完再進單張牌義，學員會先有一個骨架，不用死背形容詞。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71207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老師原牌名與原句。黑梅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會變得比較消極、猶豫不決、無力感、拖延、退卻。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96413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老師原牌名與原句。可分辨干擾來自內在、關係或環境。涉及具體對象時，回到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S11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的「不問他人隱私」。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92175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老師原牌名。「黑梅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代表想法極度不成熟或毫無計劃」為老師原句。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67609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老師原牌名與原句。雙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的規則放在特殊組合章節，這裡不重複。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56274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老師原牌名與原句。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68259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老師原牌名與原句。老師原文寫「黑桃、紅磚、紅心都還算是可以處理的問題」；黑梅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才稱為麻煩的無解死結。另有一條：若第一張是黑梅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，第二張出現其他花色的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，代表順利過關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這與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S19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的位置規則一致。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1502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老師原牌名與原句。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7283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老師原牌名與原句。黑梅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是否列入「不確定牌」，見決策單第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題。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63666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老師原牌名與原句。此牌在原簡報另有健康與處置方面的說法，見決策單第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題。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0253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老師原牌名與原句。可強調：真正的財富之神不在黃金珠寶，而是在內心的富足。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5491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老師原牌名與原句。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2500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老師原牌名。這是角色能量，男女都可能抽到。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29764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老師原牌名。同樣是角色能量，不限定性別。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86124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請學員用自己的話說一次這四段，不要求背完整形容詞清單。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
#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第六部｜要用幾張牌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5673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老師原表。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張牌在原簡報有兩種說法（「心態／健康」與「過去現在未來」），見決策單第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題，正式版擇一。初學建議聚焦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5745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老師原公式，完整保留。這四條的共同道理只有一句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——**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結論由第二張決定**。學員記住這一句，四條式子就不用死背，也能自己推出來。這一條和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S19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的黑梅位置規則是同一件事。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8347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位置名稱待正式版統一（見決策單第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題）。無論採用哪一種，一堂課裡只用同一套名稱，不混用。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
#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第七部｜解牌與帶領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46401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任何特殊組合都不能跳過問題、位置與當事人的核對。這一頁可以貼在學員手冊第一頁。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0771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老師原簡報有大量逐組頁面，本版先收成四類規則。完整組合表建議放學員手冊或應用班。個別組合若與這四類規則有出入，以老師的原始教法為準。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39850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對應老師的「一事不二問，但可改變問法」。哪些牌屬於不確定牌、尾牌何時需要補牌，原簡報有兩套版本，見決策單第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題，正式版擇一後再寫進學員頁。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6674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兩人一組輪替。練習的目標是「說得清楚、有根據、對方聽得懂」，不是「猜中」。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5476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這三句話是「除迷解惑，運勢自明」的具體做法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牌把狀態說出來，讓當事人自己認出來，然後自己決定下一步。這樣解牌就不會停在宣判。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</a:t>
            </a:r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96023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邀請學員說出今天帶走的一個看見，與一個要做的行動。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---
*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本版為講師草稿。牌義未經改動；需要老師裁定的六項，收在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《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_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老師決策單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_v0.2》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。*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416D8-265E-4D22-A8BB-0EAB6852757A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2659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F15BB6-C9FD-FBF1-C0B2-8D28FCF7B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A4556B4-E42D-E710-2E40-A68E1DD89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77F6C7-2BB0-6A6A-1D8D-E889D355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6B3E-3381-46CD-BC72-475800BC645E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81EB7B-62BF-41D4-3529-66F25B332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8E4F67-27D6-2946-5474-4D679A82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B1ED-77EE-4DE1-BD6E-C382FA9B28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6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C4ADD2-E963-2223-171A-70F58AEF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3C33D3-7286-E3F4-B420-F0737667B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33793B-B0B6-D785-9343-FFD3CBF29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6B3E-3381-46CD-BC72-475800BC645E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39E3AA-162B-2E77-F0E6-7E2F7AF3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28D31A-BE0D-C147-F435-96DDA0DE7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B1ED-77EE-4DE1-BD6E-C382FA9B28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557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3511E6-39DF-0EA7-2B87-8E20819E9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D3D2108-081D-5D8D-06F3-DEBC7800D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1FA973-0E42-22D5-ED6F-45370313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6B3E-3381-46CD-BC72-475800BC645E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7F297F-1CAE-BD6E-ED6C-390042FD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6F4596-5E67-D626-F364-1F7FB9DD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B1ED-77EE-4DE1-BD6E-C382FA9B28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32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CCFC03-0823-E906-2EC9-BBACF38ED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F124E5-5416-D466-324F-52F93603A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F65A9C2-D128-24CE-423A-199908B92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B19AE5-E1CF-BD1A-ECEB-E8F06E6C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6B3E-3381-46CD-BC72-475800BC645E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6B933E-442F-A556-518E-B7C13AB8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705600-D383-5553-6580-03DE4C85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B1ED-77EE-4DE1-BD6E-C382FA9B28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157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1A508A-45BE-C8C6-608E-10974BD51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4F1B16-34D6-078A-55BE-C290F172D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10AF8CE-A7A1-D513-BA76-51B39E239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25A4BF9-A3C4-78AC-6BA0-507E099C4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D10721D-C3D3-66EA-0EE1-4BBD2433A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0975278-0BE0-5320-33EB-67F813A0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6B3E-3381-46CD-BC72-475800BC645E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B5AA035-815C-4995-7C53-2EC60E895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818272F-45F2-9072-3897-C0F3B8DD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B1ED-77EE-4DE1-BD6E-C382FA9B28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557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5B6746-B47A-71AC-4DEB-B6CFCD9C2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300027D-01AB-9D1B-8943-4B0A3644E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6B3E-3381-46CD-BC72-475800BC645E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73FA094-A5C5-6EB5-7296-6F94CA92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DC38D20-C9D7-41A9-18B7-A52F025F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B1ED-77EE-4DE1-BD6E-C382FA9B28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5686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ED436E3-B20D-FB68-12D7-ABEEF3F75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6B3E-3381-46CD-BC72-475800BC645E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310FBA2-F5A6-F7D3-E4F2-BB7EBD8BD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F113FC-86BF-F7CF-41CB-39FEEB40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B1ED-77EE-4DE1-BD6E-C382FA9B28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591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B61795-6287-4E33-9A83-F232C88A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99CC42-3645-103F-E10C-28F5287D3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730EAAF-790A-7C82-7420-1C6B1CEAA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D2D6BB0-BB17-59A0-1C90-1F72E200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6B3E-3381-46CD-BC72-475800BC645E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048AF4-E894-1774-897A-EA876882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984D60-64B1-2299-CE94-D6E5A0CB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B1ED-77EE-4DE1-BD6E-C382FA9B28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4047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844BCE-52BE-AECC-B027-C3530490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86C8E35-48C7-7A66-2418-20211542A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A9AA2B5-35F5-99F1-D285-2066F9746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6BCB91F-1A31-A185-C139-737886A4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6B3E-3381-46CD-BC72-475800BC645E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88EA65-8F76-C147-E703-757DC165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1C1EEE-5866-BD52-5897-36AFD0FC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B1ED-77EE-4DE1-BD6E-C382FA9B28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29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355466-45F1-17A8-419A-C76B1D88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4AA879-1835-D4B7-7D63-1F4F33268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4ABE31-62CA-1E5D-DA86-807BD47F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6B3E-3381-46CD-BC72-475800BC645E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7EAD17-B0EA-5E0B-2046-04A48E89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489662-C095-B91B-B12A-E9FA860B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B1ED-77EE-4DE1-BD6E-C382FA9B28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868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15DA988-E8E5-B0A4-B63C-11D10C90F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9FF845E-0151-1307-4FD7-9F7303C97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AB284A-B908-06F3-F8B6-2D07C492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6B3E-3381-46CD-BC72-475800BC645E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1060F0-DD50-727B-C7E9-E06212507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17E43B-0416-349C-D505-B16E57AF8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0B1ED-77EE-4DE1-BD6E-C382FA9B28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85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35FD724-A2DB-EFC0-6BAE-925059A80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F31A37-E252-C839-3ADE-7D235DE40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225706-BCF6-4D90-A86E-8EFA84F5E9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46B3E-3381-46CD-BC72-475800BC645E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723FAC-FE0B-C197-B4BC-F2412A2AB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AADF2D-6FE4-849E-8F93-25FD426A7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0B1ED-77EE-4DE1-BD6E-C382FA9B28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3029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2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BD552318-027E-60DB-9096-96D6B56624A1}"/>
              </a:ext>
            </a:extLst>
          </p:cNvPr>
          <p:cNvSpPr/>
          <p:nvPr/>
        </p:nvSpPr>
        <p:spPr>
          <a:xfrm>
            <a:off x="8382000" y="-1016000"/>
            <a:ext cx="4572000" cy="4572000"/>
          </a:xfrm>
          <a:prstGeom prst="ellipse">
            <a:avLst/>
          </a:prstGeom>
          <a:solidFill>
            <a:srgbClr val="C39852">
              <a:alpha val="8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C427CB73-90B4-4092-671A-CEC5854FB69D}"/>
              </a:ext>
            </a:extLst>
          </p:cNvPr>
          <p:cNvSpPr/>
          <p:nvPr/>
        </p:nvSpPr>
        <p:spPr>
          <a:xfrm>
            <a:off x="9461500" y="3238500"/>
            <a:ext cx="3302000" cy="3302000"/>
          </a:xfrm>
          <a:prstGeom prst="ellipse">
            <a:avLst/>
          </a:prstGeom>
          <a:solidFill>
            <a:srgbClr val="C97F7A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61E75E8-A669-4753-3980-D42D9D34F397}"/>
              </a:ext>
            </a:extLst>
          </p:cNvPr>
          <p:cNvSpPr txBox="1"/>
          <p:nvPr/>
        </p:nvSpPr>
        <p:spPr>
          <a:xfrm>
            <a:off x="889000" y="762000"/>
            <a:ext cx="3810000" cy="381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400" b="1">
                <a:solidFill>
                  <a:srgbClr val="EFE1C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endParaRPr lang="zh-TW" altLang="en-US" sz="1400" b="1">
              <a:solidFill>
                <a:srgbClr val="EFE1C8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E12E90D-6BB4-DAE4-69F2-F96B52FF0B57}"/>
              </a:ext>
            </a:extLst>
          </p:cNvPr>
          <p:cNvSpPr txBox="1"/>
          <p:nvPr/>
        </p:nvSpPr>
        <p:spPr>
          <a:xfrm>
            <a:off x="889000" y="1841500"/>
            <a:ext cx="7112000" cy="1270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5400" b="1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CD67141-D80F-1A26-30C9-FD9D294718A5}"/>
              </a:ext>
            </a:extLst>
          </p:cNvPr>
          <p:cNvSpPr txBox="1"/>
          <p:nvPr/>
        </p:nvSpPr>
        <p:spPr>
          <a:xfrm>
            <a:off x="914400" y="3022600"/>
            <a:ext cx="5080000" cy="6985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800" b="1">
                <a:solidFill>
                  <a:srgbClr val="EFE1C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映照課程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E2AD62-039C-42C1-6EB1-216C1EAC77B9}"/>
              </a:ext>
            </a:extLst>
          </p:cNvPr>
          <p:cNvSpPr txBox="1"/>
          <p:nvPr/>
        </p:nvSpPr>
        <p:spPr>
          <a:xfrm>
            <a:off x="914400" y="4191000"/>
            <a:ext cx="7112000" cy="685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0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人人可用　自由提問　內在連結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EAB3546-0824-98F6-84AD-6384F9E21536}"/>
              </a:ext>
            </a:extLst>
          </p:cNvPr>
          <p:cNvSpPr txBox="1"/>
          <p:nvPr/>
        </p:nvSpPr>
        <p:spPr>
          <a:xfrm>
            <a:off x="889000" y="5397500"/>
            <a:ext cx="4953000" cy="558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800">
                <a:solidFill>
                  <a:srgbClr val="F1D9D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 ♥   ♦ 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B425E9-42B8-EA41-5215-5527E2FD8C9D}"/>
              </a:ext>
            </a:extLst>
          </p:cNvPr>
          <p:cNvSpPr txBox="1"/>
          <p:nvPr/>
        </p:nvSpPr>
        <p:spPr>
          <a:xfrm>
            <a:off x="914400" y="6184900"/>
            <a:ext cx="27940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>
                <a:solidFill>
                  <a:srgbClr val="EFE1C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v0.2</a:t>
            </a:r>
            <a:r>
              <a:rPr lang="zh-TW" altLang="en-US" sz="1000">
                <a:solidFill>
                  <a:srgbClr val="EFE1C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｜講師草稿</a:t>
            </a:r>
          </a:p>
        </p:txBody>
      </p:sp>
    </p:spTree>
    <p:extLst>
      <p:ext uri="{BB962C8B-B14F-4D97-AF65-F5344CB8AC3E}">
        <p14:creationId xmlns:p14="http://schemas.microsoft.com/office/powerpoint/2010/main" val="3001987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C657053-CEF1-9C19-50BD-861A4ABE49B9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0A87BD-77F0-E77C-EDAD-6351C32A7CAC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A65CE17-55BF-D398-FFD5-AA29444531E1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02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BAEA28-2E0C-68E8-C21F-57FF78A73FE9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從一片葉子到一副牌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A89994-6BC7-CDDA-563D-2B13563EA032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E2C7454-042B-0130-0E07-FCBE41CB39AF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DC7DC5-FE88-9134-9AB3-4388697DE4F6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一千多年前的中國，人們用手中小小的紙牌傳遞故事與情感。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那時叫做「葉子戲」，像葉片一樣輕巧，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每一張都載著人們的希望與想像。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唐朝・葉子戲 → 中東・馬穆魯克紙牌 → 歐洲・花色與宮廷牌 → 現代・</a:t>
            </a:r>
            <a:r>
              <a:rPr lang="en-US" altLang="ja-JP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52 </a:t>
            </a: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張撲克牌 → 掌運卡・回歸精神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7802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530C9A3-8A02-AD39-4351-B19AD0BA52D2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4195FE-80E1-B4B3-D87E-DC42465A1E4A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659FC58-C8A8-2017-FD5B-D0F98266C64A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163166-1B8C-363C-A6F7-16C5D06967F9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何謂掌運卡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D02553-70C6-C2E6-D755-0252A18ADAF3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5FAF200-126C-FD75-075D-5534F81D1176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0CD38DB-C434-C435-4771-41BDB4083641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一、 慧與智的結合</a:t>
            </a: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心智與洞察力</a:t>
            </a:r>
          </a:p>
          <a:p>
            <a:pPr>
              <a:spcAft>
                <a:spcPts val="700"/>
              </a:spcAft>
            </a:pP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二、 自我靈性覺知：藉由自身的提問，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啟動真如的自我靈性牽引肉身的選牌，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找出凡身的迷失及解決方法</a:t>
            </a:r>
          </a:p>
        </p:txBody>
      </p:sp>
    </p:spTree>
    <p:extLst>
      <p:ext uri="{BB962C8B-B14F-4D97-AF65-F5344CB8AC3E}">
        <p14:creationId xmlns:p14="http://schemas.microsoft.com/office/powerpoint/2010/main" val="2400857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8F2BE71-2748-0853-213B-2B07C6249FA9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033516-507A-B893-842C-3F51520B0253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7E19CA6-F7FF-9CD3-C80E-2BB3432F9331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04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DB1DA40-640F-9D58-DF29-BFCB90DFFFB6}"/>
              </a:ext>
            </a:extLst>
          </p:cNvPr>
          <p:cNvSpPr txBox="1"/>
          <p:nvPr/>
        </p:nvSpPr>
        <p:spPr>
          <a:xfrm>
            <a:off x="863600" y="1041400"/>
            <a:ext cx="10464800" cy="685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2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這門課的核心句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A4D87F0-4A98-234B-1C7A-A6AF89C01271}"/>
              </a:ext>
            </a:extLst>
          </p:cNvPr>
          <p:cNvSpPr/>
          <p:nvPr/>
        </p:nvSpPr>
        <p:spPr>
          <a:xfrm>
            <a:off x="1066800" y="2006600"/>
            <a:ext cx="10058400" cy="31750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0565D49-20DE-10A1-FFDE-806254EA23DA}"/>
              </a:ext>
            </a:extLst>
          </p:cNvPr>
          <p:cNvSpPr txBox="1"/>
          <p:nvPr/>
        </p:nvSpPr>
        <p:spPr>
          <a:xfrm>
            <a:off x="1549400" y="2374900"/>
            <a:ext cx="9093200" cy="2438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6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不算命，不看運，</a:t>
            </a:r>
          </a:p>
          <a:p>
            <a:pPr algn="ctr">
              <a:spcAft>
                <a:spcPts val="700"/>
              </a:spcAft>
            </a:pPr>
            <a:r>
              <a:rPr lang="zh-TW" altLang="en-US" sz="26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除迷解惑，運勢自明。</a:t>
            </a:r>
          </a:p>
          <a:p>
            <a:pPr algn="ctr">
              <a:spcAft>
                <a:spcPts val="700"/>
              </a:spcAft>
            </a:pPr>
            <a:endParaRPr lang="zh-TW" altLang="en-US" sz="26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ctr">
              <a:spcAft>
                <a:spcPts val="700"/>
              </a:spcAft>
            </a:pPr>
            <a:r>
              <a:rPr lang="zh-TW" altLang="en-US" sz="26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除去迷惑，直指人心。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C098F7F6-ABCB-8BC3-B4D9-DC2D66B8EB16}"/>
              </a:ext>
            </a:extLst>
          </p:cNvPr>
          <p:cNvSpPr/>
          <p:nvPr/>
        </p:nvSpPr>
        <p:spPr>
          <a:xfrm>
            <a:off x="5537200" y="5537200"/>
            <a:ext cx="1117600" cy="1117600"/>
          </a:xfrm>
          <a:prstGeom prst="ellipse">
            <a:avLst/>
          </a:prstGeom>
          <a:solidFill>
            <a:srgbClr val="F1D9D5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367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32C81B3-46B0-23DC-FC88-DAAF77FEF6A8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EE54A1-F432-1EED-17F9-34977EB88002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8B74BE6-1947-1DD3-E090-2B1EC7D7CD94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05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E47A2CD-14CE-D71B-267F-3E5902A9EB1B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六字真言的顯化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B67107-305E-98A6-76CC-1FA17907CA88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EB15728-3592-03BB-8A2A-DA8FD87F6317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EF0A91B-5012-BB30-8E4A-EEBBC0C3DE0C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道・法・術・器・□・志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學習掌運卡不只是自我成長，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更是成為溫柔引導他人的力量。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712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069ED8B-2C6E-9B56-698E-0E55B1268A96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5A4C13-7F57-C9B6-3C47-2859EE4ECD75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E8D3ED9-472F-9110-264C-7EE6C9426829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06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B6DB912-BBE0-6984-298F-D0D8F1EDE3B3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六字真言淺談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2EE4E1-3AB1-7FFA-75C8-39C1D8E2EC0F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2FDE5DF-C1D6-A72F-2A79-FB3769D59245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9F0BBFB-5C73-F94B-BD12-8531AB4AC0AC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道　生命信仰與靈性源頭　→　顯化的「初衷」</a:t>
            </a:r>
          </a:p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法　行動準則與實踐方法　→　貫徹的「路徑」</a:t>
            </a:r>
          </a:p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術　執行手法與靈活技巧　→　落地的「手段」</a:t>
            </a:r>
          </a:p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器　技能資源與實踐工具　→　實現的「工具」</a:t>
            </a:r>
          </a:p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識　覺察力與判斷智慧　　→　指引的「明燈」</a:t>
            </a:r>
          </a:p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志　目標動力與推進能量　→　燃燒的「動力」</a:t>
            </a:r>
          </a:p>
        </p:txBody>
      </p:sp>
    </p:spTree>
    <p:extLst>
      <p:ext uri="{BB962C8B-B14F-4D97-AF65-F5344CB8AC3E}">
        <p14:creationId xmlns:p14="http://schemas.microsoft.com/office/powerpoint/2010/main" val="905187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91D1156-F05A-8DBA-B871-4E03EF75B2D6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D1DE64-436A-DCA3-3EF7-BFD7613694F0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5079A1B-A287-CF28-7783-007F9297CC8B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07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DB75F45-4945-0370-4027-D5863074BA90}"/>
              </a:ext>
            </a:extLst>
          </p:cNvPr>
          <p:cNvSpPr txBox="1"/>
          <p:nvPr/>
        </p:nvSpPr>
        <p:spPr>
          <a:xfrm>
            <a:off x="863600" y="1041400"/>
            <a:ext cx="10464800" cy="685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2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掌運卡的核心概念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96A36F8-9C32-254A-0FEF-A6E0982C0664}"/>
              </a:ext>
            </a:extLst>
          </p:cNvPr>
          <p:cNvSpPr/>
          <p:nvPr/>
        </p:nvSpPr>
        <p:spPr>
          <a:xfrm>
            <a:off x="1066800" y="2006600"/>
            <a:ext cx="10058400" cy="31750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C5D3842-E9FD-110B-9E80-F9FB668437D4}"/>
              </a:ext>
            </a:extLst>
          </p:cNvPr>
          <p:cNvSpPr txBox="1"/>
          <p:nvPr/>
        </p:nvSpPr>
        <p:spPr>
          <a:xfrm>
            <a:off x="1549400" y="2374900"/>
            <a:ext cx="9093200" cy="2438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市面上大多數的牌卡</a:t>
            </a:r>
            <a:r>
              <a:rPr lang="en-US" altLang="zh-TW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無論塔羅、神諭卡、靈性卡</a:t>
            </a:r>
            <a:r>
              <a:rPr lang="en-US" altLang="zh-TW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</a:p>
          <a:p>
            <a:pPr algn="ctr">
              <a:spcAft>
                <a:spcPts val="700"/>
              </a:spcAft>
            </a:pPr>
            <a:r>
              <a:rPr lang="zh-TW" altLang="en-US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其實都源自最原始的撲克牌系統。</a:t>
            </a:r>
          </a:p>
          <a:p>
            <a:pPr algn="ctr">
              <a:spcAft>
                <a:spcPts val="700"/>
              </a:spcAft>
            </a:pPr>
            <a:endParaRPr lang="zh-TW" altLang="en-US" sz="155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ctr">
              <a:spcAft>
                <a:spcPts val="700"/>
              </a:spcAft>
            </a:pPr>
            <a:r>
              <a:rPr lang="zh-TW" altLang="en-US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掌運卡承襲這份起源與精神，</a:t>
            </a:r>
          </a:p>
          <a:p>
            <a:pPr algn="ctr">
              <a:spcAft>
                <a:spcPts val="700"/>
              </a:spcAft>
            </a:pPr>
            <a:r>
              <a:rPr lang="zh-TW" altLang="en-US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保留最單純、最貼近直覺的抽卡方式。</a:t>
            </a:r>
          </a:p>
          <a:p>
            <a:pPr algn="ctr">
              <a:spcAft>
                <a:spcPts val="700"/>
              </a:spcAft>
            </a:pPr>
            <a:r>
              <a:rPr lang="zh-TW" altLang="en-US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運在手中，心之所向。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BE34643-C5B6-107D-93D3-2F254ED23447}"/>
              </a:ext>
            </a:extLst>
          </p:cNvPr>
          <p:cNvSpPr/>
          <p:nvPr/>
        </p:nvSpPr>
        <p:spPr>
          <a:xfrm>
            <a:off x="5537200" y="5537200"/>
            <a:ext cx="1117600" cy="1117600"/>
          </a:xfrm>
          <a:prstGeom prst="ellipse">
            <a:avLst/>
          </a:prstGeom>
          <a:solidFill>
            <a:srgbClr val="F1D9D5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24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021E041-24C4-3F6F-7D44-B73D43DDF55A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987CE9-09D9-26DF-48AE-9CEDF45CCE0D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D9DCDE-BC4D-A357-BA9D-2B64184A9748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C0A40C5-4DE6-05EF-B855-D0D512495E05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問牌之前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644574-C18E-AB68-E3AE-5310D2736E58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430FC6C-E230-C8C9-FBEC-272DCA06C6DF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522C066-6B6C-50C5-8C49-60D8E0713EBC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不疑不問</a:t>
            </a:r>
          </a:p>
          <a:p>
            <a:pPr>
              <a:spcAft>
                <a:spcPts val="700"/>
              </a:spcAft>
            </a:pPr>
            <a:endParaRPr lang="ja-JP" altLang="en-US" sz="175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首先，請靜下心來。</a:t>
            </a:r>
          </a:p>
          <a:p>
            <a:pPr>
              <a:spcAft>
                <a:spcPts val="700"/>
              </a:spcAft>
            </a:pPr>
            <a:r>
              <a:rPr lang="ja-JP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在心中默念想要問的問題。</a:t>
            </a:r>
          </a:p>
          <a:p>
            <a:pPr>
              <a:spcAft>
                <a:spcPts val="700"/>
              </a:spcAft>
            </a:pPr>
            <a:r>
              <a:rPr lang="ja-JP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一・誠心誠意</a:t>
            </a:r>
          </a:p>
          <a:p>
            <a:pPr>
              <a:spcAft>
                <a:spcPts val="700"/>
              </a:spcAft>
            </a:pPr>
            <a:r>
              <a:rPr lang="ja-JP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二・不重複問</a:t>
            </a:r>
          </a:p>
          <a:p>
            <a:pPr>
              <a:spcAft>
                <a:spcPts val="700"/>
              </a:spcAft>
            </a:pPr>
            <a:r>
              <a:rPr lang="ja-JP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三・尊重過程</a:t>
            </a:r>
            <a:endParaRPr lang="zh-TW" altLang="en-US" sz="175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295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58A8004-A449-3494-CEA8-E05E3E72633B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2CDE4D-1615-6FCF-2697-E31537E0B04E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CD0B3C4-BA96-9080-6C33-DC368BE6FB61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09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060D2D7-07FF-F8B8-D93C-31F7678C518E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問題要明確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776530-9766-252F-6DC4-68C4D8CA5B63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232D019-240F-BE44-BA0C-9435C7F41FE4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F3B2F51-41F5-6181-D69B-15B1DB64F3CD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任何想知道的人、事、時、地、物，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都可以設定為想問的問題。</a:t>
            </a:r>
          </a:p>
          <a:p>
            <a:pPr>
              <a:spcAft>
                <a:spcPts val="700"/>
              </a:spcAft>
            </a:pP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問問題時，人事時地物要明確。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解析問題、分析影響因素，是提問的第一步。</a:t>
            </a:r>
          </a:p>
        </p:txBody>
      </p:sp>
    </p:spTree>
    <p:extLst>
      <p:ext uri="{BB962C8B-B14F-4D97-AF65-F5344CB8AC3E}">
        <p14:creationId xmlns:p14="http://schemas.microsoft.com/office/powerpoint/2010/main" val="841855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6D3A24B-1F6F-8FCB-3ABE-640429C9BF32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25B48D-C02B-BEA4-B049-D6B3AF6E89C0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7AC69E3-90B0-B5C8-7315-1ABBF7BE76E5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DC970CD-209F-A6BC-E8C3-F05D89651529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一次一個問題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9BA852-3F18-8616-13EB-1D9CA2F3452B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D945F92-5704-0652-AE7E-6A2C5556B2D2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D722D98-646C-1C80-CA8F-EE921DD4792E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可以自己問，也可以幫他人問，</a:t>
            </a:r>
          </a:p>
          <a:p>
            <a:pPr>
              <a:spcAft>
                <a:spcPts val="700"/>
              </a:spcAft>
            </a:pPr>
            <a:r>
              <a:rPr lang="zh-TW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但一次只能問一個問題。</a:t>
            </a:r>
          </a:p>
          <a:p>
            <a:pPr>
              <a:spcAft>
                <a:spcPts val="700"/>
              </a:spcAft>
            </a:pPr>
            <a:endParaRPr lang="zh-TW" altLang="en-US" sz="175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若問題涉及人物對象，</a:t>
            </a:r>
          </a:p>
          <a:p>
            <a:pPr>
              <a:spcAft>
                <a:spcPts val="700"/>
              </a:spcAft>
            </a:pPr>
            <a:r>
              <a:rPr lang="zh-TW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可在心裡默念其姓名並想著對方的形象，會更加精準。</a:t>
            </a:r>
          </a:p>
          <a:p>
            <a:pPr>
              <a:spcAft>
                <a:spcPts val="700"/>
              </a:spcAft>
            </a:pPr>
            <a:endParaRPr lang="zh-TW" altLang="en-US" sz="175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一事不二問</a:t>
            </a:r>
            <a:r>
              <a:rPr lang="en-US" altLang="zh-TW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但可以改變問法，來問同樣的問題。</a:t>
            </a:r>
          </a:p>
        </p:txBody>
      </p:sp>
    </p:spTree>
    <p:extLst>
      <p:ext uri="{BB962C8B-B14F-4D97-AF65-F5344CB8AC3E}">
        <p14:creationId xmlns:p14="http://schemas.microsoft.com/office/powerpoint/2010/main" val="1240778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C5D113E-D25E-FF06-00A4-B260003B89F7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35C250-1CC7-2362-746A-9E7A3208F729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4252951-6943-48D3-C4E6-B1C2279A24AB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F648836-87DB-8332-B442-13892402AA29}"/>
              </a:ext>
            </a:extLst>
          </p:cNvPr>
          <p:cNvSpPr txBox="1"/>
          <p:nvPr/>
        </p:nvSpPr>
        <p:spPr>
          <a:xfrm>
            <a:off x="863600" y="1041400"/>
            <a:ext cx="10464800" cy="685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2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老師的四不問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8D7754C-3DB7-6647-71DD-D6397EC8C83D}"/>
              </a:ext>
            </a:extLst>
          </p:cNvPr>
          <p:cNvSpPr/>
          <p:nvPr/>
        </p:nvSpPr>
        <p:spPr>
          <a:xfrm>
            <a:off x="1066800" y="2006600"/>
            <a:ext cx="10058400" cy="31750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14B1C7B-84CE-6059-E72B-3E8A190D98B1}"/>
              </a:ext>
            </a:extLst>
          </p:cNvPr>
          <p:cNvSpPr txBox="1"/>
          <p:nvPr/>
        </p:nvSpPr>
        <p:spPr>
          <a:xfrm>
            <a:off x="1549400" y="2374900"/>
            <a:ext cx="9093200" cy="2438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不問生死</a:t>
            </a:r>
          </a:p>
          <a:p>
            <a:pPr algn="ctr">
              <a:spcAft>
                <a:spcPts val="700"/>
              </a:spcAft>
            </a:pPr>
            <a:r>
              <a:rPr lang="zh-TW" altLang="en-US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不問投機取巧之事</a:t>
            </a:r>
          </a:p>
          <a:p>
            <a:pPr algn="ctr">
              <a:spcAft>
                <a:spcPts val="700"/>
              </a:spcAft>
            </a:pPr>
            <a:r>
              <a:rPr lang="zh-TW" altLang="en-US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不問生孩子性別</a:t>
            </a:r>
          </a:p>
          <a:p>
            <a:pPr algn="ctr">
              <a:spcAft>
                <a:spcPts val="700"/>
              </a:spcAft>
            </a:pPr>
            <a:r>
              <a:rPr lang="zh-TW" altLang="en-US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不問他人隱私</a:t>
            </a:r>
          </a:p>
          <a:p>
            <a:pPr algn="ctr">
              <a:spcAft>
                <a:spcPts val="700"/>
              </a:spcAft>
            </a:pPr>
            <a:r>
              <a:rPr lang="zh-TW" altLang="en-US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居心要正。</a:t>
            </a:r>
          </a:p>
          <a:p>
            <a:pPr algn="ctr">
              <a:spcAft>
                <a:spcPts val="700"/>
              </a:spcAft>
            </a:pPr>
            <a:r>
              <a:rPr lang="zh-TW" altLang="en-US" sz="15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凡問邪事、投機、賭博，或心存邪念、妄想者，不靈驗。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105D510B-744A-3D38-9000-086FE622700A}"/>
              </a:ext>
            </a:extLst>
          </p:cNvPr>
          <p:cNvSpPr/>
          <p:nvPr/>
        </p:nvSpPr>
        <p:spPr>
          <a:xfrm>
            <a:off x="5537200" y="5537200"/>
            <a:ext cx="1117600" cy="1117600"/>
          </a:xfrm>
          <a:prstGeom prst="ellipse">
            <a:avLst/>
          </a:prstGeom>
          <a:solidFill>
            <a:srgbClr val="F1D9D5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3028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C09A4C9-73C7-8086-2AAA-8294C035B79F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296D7F-45E3-8C10-C1A1-22712221AF1B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A28345C-35AB-B128-0036-E9823A2BF3BF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479749-4E2C-412F-5420-44FE151FEBC8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問牌的方法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8A4204-E5D4-9F85-05F1-02E23B8EBFA0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AA4EA20-3238-EBDD-F204-71C4D469AB5E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71AC8A-82D7-B305-AA44-EC8B4FE1C335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心裡想著要問的問題，一面洗牌。</a:t>
            </a:r>
          </a:p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翻出第一張牌 → 再洗牌 → 翻出第二張牌。</a:t>
            </a:r>
          </a:p>
          <a:p>
            <a:pPr>
              <a:spcAft>
                <a:spcPts val="700"/>
              </a:spcAft>
            </a:pPr>
            <a:endParaRPr lang="zh-TW" altLang="en-US" sz="215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翻牌過程中不說話。</a:t>
            </a:r>
          </a:p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第一張是前因。</a:t>
            </a:r>
          </a:p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第二張代表最後的結果，或該如何解決。</a:t>
            </a:r>
          </a:p>
        </p:txBody>
      </p:sp>
    </p:spTree>
    <p:extLst>
      <p:ext uri="{BB962C8B-B14F-4D97-AF65-F5344CB8AC3E}">
        <p14:creationId xmlns:p14="http://schemas.microsoft.com/office/powerpoint/2010/main" val="4275432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9692841-4049-0383-48A8-A1EB14226A03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6BB2A1-17C9-3ACF-9A37-5AE12D19D329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96FD61D-4C55-D1B1-4CC9-8C6E95366D61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B8205B9-E260-02A8-ECD0-6DFB118BA6C6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一副牌，就是一年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169819-590B-8AE0-032D-CBB45C7A9786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4BB42A7-F764-BB4E-9B77-2D8963649F98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953FBCB-7549-518E-783B-0B405AD484D2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52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張數字牌 ＝ 一年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52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個星期</a:t>
            </a:r>
          </a:p>
          <a:p>
            <a:pPr>
              <a:spcAft>
                <a:spcPts val="700"/>
              </a:spcAft>
            </a:pP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個花色 ＝ 春、夏、秋、冬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每季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 ＝ 一季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個星期</a:t>
            </a:r>
          </a:p>
          <a:p>
            <a:pPr>
              <a:spcAft>
                <a:spcPts val="700"/>
              </a:spcAft>
            </a:pPr>
            <a:endParaRPr lang="zh-TW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加起來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91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點 ＝ 一季平均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91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天</a:t>
            </a:r>
          </a:p>
          <a:p>
            <a:pPr>
              <a:spcAft>
                <a:spcPts val="700"/>
              </a:spcAft>
            </a:pP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91 × 4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＝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364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，加小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Joker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＝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365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天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大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Joker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＝ 閏年多出來的那一天</a:t>
            </a:r>
          </a:p>
          <a:p>
            <a:pPr>
              <a:spcAft>
                <a:spcPts val="700"/>
              </a:spcAft>
            </a:pPr>
            <a:endParaRPr lang="zh-TW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紅色是白天，黑色是夜晚</a:t>
            </a:r>
          </a:p>
        </p:txBody>
      </p:sp>
    </p:spTree>
    <p:extLst>
      <p:ext uri="{BB962C8B-B14F-4D97-AF65-F5344CB8AC3E}">
        <p14:creationId xmlns:p14="http://schemas.microsoft.com/office/powerpoint/2010/main" val="2105479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E3903CD-373E-5A47-DFA5-A7DA41E0EE16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2CDB69-3CF1-192D-251B-0978FCDFDA2E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B9693D6-67C4-13B4-D18C-52A862637D5D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7BB3CC5-EEB4-59D0-901B-1642B04DF13D}"/>
              </a:ext>
            </a:extLst>
          </p:cNvPr>
          <p:cNvSpPr txBox="1"/>
          <p:nvPr/>
        </p:nvSpPr>
        <p:spPr>
          <a:xfrm>
            <a:off x="787400" y="990600"/>
            <a:ext cx="10414000" cy="6985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四種花色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F005C80-9C16-AA83-33D1-9303FF2A2535}"/>
              </a:ext>
            </a:extLst>
          </p:cNvPr>
          <p:cNvSpPr/>
          <p:nvPr/>
        </p:nvSpPr>
        <p:spPr>
          <a:xfrm>
            <a:off x="787400" y="2032000"/>
            <a:ext cx="2438400" cy="3302000"/>
          </a:xfrm>
          <a:prstGeom prst="roundRect">
            <a:avLst/>
          </a:prstGeom>
          <a:solidFill>
            <a:srgbClr val="FFFDFC"/>
          </a:solidFill>
          <a:ln w="17780">
            <a:solidFill>
              <a:srgbClr val="273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5BD643-05E9-C4AE-74FB-B0F63FF9A889}"/>
              </a:ext>
            </a:extLst>
          </p:cNvPr>
          <p:cNvSpPr txBox="1"/>
          <p:nvPr/>
        </p:nvSpPr>
        <p:spPr>
          <a:xfrm>
            <a:off x="1092200" y="2311400"/>
            <a:ext cx="1828800" cy="1016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46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5941D66-0A56-949B-C124-93CC91F0315F}"/>
              </a:ext>
            </a:extLst>
          </p:cNvPr>
          <p:cNvSpPr txBox="1"/>
          <p:nvPr/>
        </p:nvSpPr>
        <p:spPr>
          <a:xfrm>
            <a:off x="1041400" y="3556000"/>
            <a:ext cx="1930400" cy="533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4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黑桃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33E3431-A882-B9C9-E5D4-29B6C107F7BA}"/>
              </a:ext>
            </a:extLst>
          </p:cNvPr>
          <p:cNvSpPr txBox="1"/>
          <p:nvPr/>
        </p:nvSpPr>
        <p:spPr>
          <a:xfrm>
            <a:off x="965200" y="4279900"/>
            <a:ext cx="2082800" cy="609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ja-JP" altLang="en-US" sz="16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意志・力量・界線</a:t>
            </a:r>
            <a:endParaRPr lang="zh-TW" altLang="en-US" sz="1600">
              <a:solidFill>
                <a:srgbClr val="6F74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A1B9490-C942-5760-845E-DC721A15D1A4}"/>
              </a:ext>
            </a:extLst>
          </p:cNvPr>
          <p:cNvSpPr/>
          <p:nvPr/>
        </p:nvSpPr>
        <p:spPr>
          <a:xfrm>
            <a:off x="3568700" y="2032000"/>
            <a:ext cx="2438400" cy="3302000"/>
          </a:xfrm>
          <a:prstGeom prst="roundRect">
            <a:avLst/>
          </a:prstGeom>
          <a:solidFill>
            <a:srgbClr val="F1D9D5"/>
          </a:solidFill>
          <a:ln w="17780">
            <a:solidFill>
              <a:srgbClr val="C97F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BF47DF2-8B88-815E-E107-23A80FFE4451}"/>
              </a:ext>
            </a:extLst>
          </p:cNvPr>
          <p:cNvSpPr txBox="1"/>
          <p:nvPr/>
        </p:nvSpPr>
        <p:spPr>
          <a:xfrm>
            <a:off x="3873500" y="2311400"/>
            <a:ext cx="1828800" cy="1016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4600" b="1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♥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07A34BB-ABD5-5305-0692-1B00AEEF4575}"/>
              </a:ext>
            </a:extLst>
          </p:cNvPr>
          <p:cNvSpPr txBox="1"/>
          <p:nvPr/>
        </p:nvSpPr>
        <p:spPr>
          <a:xfrm>
            <a:off x="3822700" y="3556000"/>
            <a:ext cx="1930400" cy="533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4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紅心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0ED088F-FFEE-B65D-C71D-88C51DD84A24}"/>
              </a:ext>
            </a:extLst>
          </p:cNvPr>
          <p:cNvSpPr txBox="1"/>
          <p:nvPr/>
        </p:nvSpPr>
        <p:spPr>
          <a:xfrm>
            <a:off x="3746500" y="4279900"/>
            <a:ext cx="2082800" cy="609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ja-JP" altLang="en-US" sz="16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情感・關係・內心需求</a:t>
            </a:r>
            <a:endParaRPr lang="zh-TW" altLang="en-US" sz="1600">
              <a:solidFill>
                <a:srgbClr val="6F74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9078E3D-F732-F2AB-F1BA-47B76A735106}"/>
              </a:ext>
            </a:extLst>
          </p:cNvPr>
          <p:cNvSpPr/>
          <p:nvPr/>
        </p:nvSpPr>
        <p:spPr>
          <a:xfrm>
            <a:off x="6350000" y="2032000"/>
            <a:ext cx="2438400" cy="3302000"/>
          </a:xfrm>
          <a:prstGeom prst="roundRect">
            <a:avLst/>
          </a:prstGeom>
          <a:solidFill>
            <a:srgbClr val="EFE1C8"/>
          </a:solidFill>
          <a:ln w="1778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0B3DF8D-F174-8CCD-FD8E-38407A10A654}"/>
              </a:ext>
            </a:extLst>
          </p:cNvPr>
          <p:cNvSpPr txBox="1"/>
          <p:nvPr/>
        </p:nvSpPr>
        <p:spPr>
          <a:xfrm>
            <a:off x="6654800" y="2311400"/>
            <a:ext cx="1828800" cy="1016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46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♦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ED4916E-F8AC-4521-EF83-2EE982E0D056}"/>
              </a:ext>
            </a:extLst>
          </p:cNvPr>
          <p:cNvSpPr txBox="1"/>
          <p:nvPr/>
        </p:nvSpPr>
        <p:spPr>
          <a:xfrm>
            <a:off x="6604000" y="3556000"/>
            <a:ext cx="1930400" cy="533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4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紅磚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9E80F4F-C3D2-BD68-1CFD-0C2AE259F177}"/>
              </a:ext>
            </a:extLst>
          </p:cNvPr>
          <p:cNvSpPr txBox="1"/>
          <p:nvPr/>
        </p:nvSpPr>
        <p:spPr>
          <a:xfrm>
            <a:off x="6527800" y="4279900"/>
            <a:ext cx="2082800" cy="609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ja-JP" altLang="en-US" sz="16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金錢・事業・資源・現實</a:t>
            </a:r>
            <a:endParaRPr lang="zh-TW" altLang="en-US" sz="1600">
              <a:solidFill>
                <a:srgbClr val="6F74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144BA959-0138-5451-71A5-12C510A6BE24}"/>
              </a:ext>
            </a:extLst>
          </p:cNvPr>
          <p:cNvSpPr/>
          <p:nvPr/>
        </p:nvSpPr>
        <p:spPr>
          <a:xfrm>
            <a:off x="9131300" y="2032000"/>
            <a:ext cx="2438400" cy="3302000"/>
          </a:xfrm>
          <a:prstGeom prst="roundRect">
            <a:avLst/>
          </a:prstGeom>
          <a:solidFill>
            <a:srgbClr val="DCE6DF"/>
          </a:solidFill>
          <a:ln w="17780">
            <a:solidFill>
              <a:srgbClr val="849C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8E197E2-98DD-125C-735E-6B4905825C97}"/>
              </a:ext>
            </a:extLst>
          </p:cNvPr>
          <p:cNvSpPr txBox="1"/>
          <p:nvPr/>
        </p:nvSpPr>
        <p:spPr>
          <a:xfrm>
            <a:off x="9436100" y="2311400"/>
            <a:ext cx="1828800" cy="1016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4600" b="1">
                <a:solidFill>
                  <a:srgbClr val="849C8D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♣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019D0D7-DEED-8809-E4F8-5D4A60D2A0A5}"/>
              </a:ext>
            </a:extLst>
          </p:cNvPr>
          <p:cNvSpPr txBox="1"/>
          <p:nvPr/>
        </p:nvSpPr>
        <p:spPr>
          <a:xfrm>
            <a:off x="9385300" y="3556000"/>
            <a:ext cx="1930400" cy="533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4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F3C6C6C-CC20-80CF-BB05-40790DB8CCB7}"/>
              </a:ext>
            </a:extLst>
          </p:cNvPr>
          <p:cNvSpPr txBox="1"/>
          <p:nvPr/>
        </p:nvSpPr>
        <p:spPr>
          <a:xfrm>
            <a:off x="9309100" y="4279900"/>
            <a:ext cx="2082800" cy="609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ja-JP" altLang="en-US" sz="16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消耗・混亂・比原來狀態差</a:t>
            </a:r>
            <a:endParaRPr lang="zh-TW" altLang="en-US" sz="1600">
              <a:solidFill>
                <a:srgbClr val="6F74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597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89A0940-8E3C-B614-AE41-0B66659BBDE8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ECDB2B-8613-C3AA-0980-6D4E2DF5846E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02B8ADD-D84B-6D5D-CA95-BEBAEFD9DF8E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B08FAB5-0D0A-9ECF-AF08-2E89955E6E4F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黑桃 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Spade</a:t>
            </a:r>
            <a:endParaRPr lang="zh-TW" altLang="en-US" sz="3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3CBDA5-0C4C-E7CC-0109-5DA0F8A8172D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38D66D7-85F1-3C7E-1EA4-FA4360A99E86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744ABC0-C975-8F6B-7890-BFA9C66642B5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力量本身</a:t>
            </a:r>
          </a:p>
          <a:p>
            <a:pPr>
              <a:spcAft>
                <a:spcPts val="700"/>
              </a:spcAft>
            </a:pPr>
            <a:endParaRPr lang="ja-JP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堅定・毅力・勇氣・果斷・專注</a:t>
            </a: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忠誠・明理・公正・扎實・持久</a:t>
            </a:r>
          </a:p>
          <a:p>
            <a:pPr>
              <a:spcAft>
                <a:spcPts val="700"/>
              </a:spcAft>
            </a:pPr>
            <a:endParaRPr lang="ja-JP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太陽・國王・智者・樹木</a:t>
            </a:r>
          </a:p>
          <a:p>
            <a:pPr>
              <a:spcAft>
                <a:spcPts val="700"/>
              </a:spcAft>
            </a:pPr>
            <a:endParaRPr lang="ja-JP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用得過了：固執、很保護自己、</a:t>
            </a: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給身邊的人一種嚴肅不易靠近的感覺</a:t>
            </a:r>
            <a:endParaRPr lang="zh-TW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0139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58D95F8-218B-ED25-93ED-DA63CAA69562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E4EE46-6E7C-0FBB-96AD-AE5115693468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4BE554A-AB9D-2D16-0E95-4379963B164F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16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9935DBF-587F-B3C3-ACBD-D09AB6489725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♥ 紅心 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Heart</a:t>
            </a:r>
            <a:endParaRPr lang="zh-TW" altLang="en-US" sz="3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B7A76C-FCAA-FE7F-452D-38AE1BCE4FFB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99023F9-4513-CDE0-42D5-1AA4E43DDC48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7E00106-4336-D0CF-8FAC-8B5A3F43187F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情感與連結</a:t>
            </a:r>
          </a:p>
          <a:p>
            <a:pPr>
              <a:spcAft>
                <a:spcPts val="700"/>
              </a:spcAft>
            </a:pPr>
            <a:endParaRPr lang="ja-JP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柔情・溫暖・善良・細膩・親切</a:t>
            </a: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包容・貼心・善解人意・容易感動</a:t>
            </a:r>
          </a:p>
          <a:p>
            <a:pPr>
              <a:spcAft>
                <a:spcPts val="700"/>
              </a:spcAft>
            </a:pPr>
            <a:endParaRPr lang="ja-JP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月亮・皇后・水・愛・浪漫主義者</a:t>
            </a:r>
          </a:p>
          <a:p>
            <a:pPr>
              <a:spcAft>
                <a:spcPts val="700"/>
              </a:spcAft>
            </a:pPr>
            <a:endParaRPr lang="ja-JP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做事小心翼翼，就算有想法，行動一樣放慢</a:t>
            </a: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悶燒型主義者</a:t>
            </a:r>
            <a:endParaRPr lang="zh-TW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521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A25F1A5-DB66-830E-3D30-8C8CD65D23C2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6927AF-CD7E-D11B-F685-BF2E36626FA8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EE8BD66-8AB7-9051-021B-586185424131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17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E4DCDD0-E619-8763-26D0-47902BD95300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♦ 紅磚 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Diamond</a:t>
            </a:r>
            <a:endParaRPr lang="zh-TW" altLang="en-US" sz="3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EA0854-BF87-4E7F-44DF-8E8DBA5CC6FE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D43F98F-9E2A-748F-AF84-D9C8A8B95A73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B8DD376-2629-155F-2F36-55E8C531ABA6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現實與資源</a:t>
            </a:r>
          </a:p>
          <a:p>
            <a:pPr>
              <a:spcAft>
                <a:spcPts val="700"/>
              </a:spcAft>
            </a:pPr>
            <a:endParaRPr lang="ja-JP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金錢・事業・權力・影響力・智慧</a:t>
            </a: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積極・敢做・有方向・目標正確・富足</a:t>
            </a:r>
          </a:p>
          <a:p>
            <a:pPr>
              <a:spcAft>
                <a:spcPts val="700"/>
              </a:spcAft>
            </a:pPr>
            <a:endParaRPr lang="ja-JP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鑽石・火・堅硬</a:t>
            </a:r>
          </a:p>
          <a:p>
            <a:pPr>
              <a:spcAft>
                <a:spcPts val="700"/>
              </a:spcAft>
            </a:pPr>
            <a:endParaRPr lang="ja-JP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用得過了：強勢、小心眼、挑剔、</a:t>
            </a:r>
          </a:p>
          <a:p>
            <a:pPr>
              <a:spcAft>
                <a:spcPts val="700"/>
              </a:spcAft>
            </a:pPr>
            <a:r>
              <a:rPr lang="ja-JP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鑽牛角尖、追根究底</a:t>
            </a:r>
            <a:endParaRPr lang="zh-TW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6173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A01DC5A-34F9-3C61-C859-9D884E26C210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838856-ACCD-2296-AD67-F3B0ED3AEE98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DFDAAC3-4E36-24DB-6BFF-F8EBC28F83C0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18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0472AFA-30D9-1355-767D-AEDB2E034C81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♣ 黑梅 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Clud</a:t>
            </a:r>
            <a:endParaRPr lang="zh-TW" altLang="en-US" sz="3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51110A-9225-9594-F936-A4114E15D2E3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90032E3-D7D1-B402-5710-7282E0676B48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57C5851-9F07-DD98-385E-F7A6F105FD9A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比原來狀態差的那個方向</a:t>
            </a:r>
          </a:p>
          <a:p>
            <a:pPr>
              <a:spcAft>
                <a:spcPts val="700"/>
              </a:spcAft>
            </a:pPr>
            <a:endParaRPr lang="ja-JP" altLang="en-US" sz="175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消極・延遲・破壞・不再用心</a:t>
            </a:r>
          </a:p>
          <a:p>
            <a:pPr>
              <a:spcAft>
                <a:spcPts val="700"/>
              </a:spcAft>
            </a:pPr>
            <a:r>
              <a:rPr lang="ja-JP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無力感・壓力・重擔・心煩・無方向</a:t>
            </a:r>
          </a:p>
          <a:p>
            <a:pPr>
              <a:spcAft>
                <a:spcPts val="700"/>
              </a:spcAft>
            </a:pPr>
            <a:r>
              <a:rPr lang="ja-JP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混亂・恍神・失當</a:t>
            </a:r>
          </a:p>
          <a:p>
            <a:pPr>
              <a:spcAft>
                <a:spcPts val="700"/>
              </a:spcAft>
            </a:pPr>
            <a:endParaRPr lang="ja-JP" altLang="en-US" sz="175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17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眼淚・沮喪・落寞</a:t>
            </a:r>
            <a:endParaRPr lang="zh-TW" altLang="en-US" sz="175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2467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A27E06D-98DB-96FB-368D-2907D4D324E8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0D801D-A9F9-6A0C-674F-188287AD5013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490A585-26D0-DD6E-A139-0434AFF29EDD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19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1A4C3A7-4A79-1C69-26D7-D98ECABE2A2C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黑梅的兩個身分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174088-21AB-2B75-159C-E4BA1C3B12B1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0957486-9EDD-5A46-0B09-F36DD30A67B4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87F6B5A-D4A9-B611-E054-37A891B87EA7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14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當它是花色</a:t>
            </a:r>
            <a:r>
              <a:rPr lang="en-US" altLang="zh-TW" sz="14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 sz="14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說明這件事的狀態：消耗、混亂、比原來差。</a:t>
            </a:r>
          </a:p>
          <a:p>
            <a:pPr>
              <a:spcAft>
                <a:spcPts val="700"/>
              </a:spcAft>
            </a:pPr>
            <a:endParaRPr lang="zh-TW" altLang="en-US" sz="145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14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當它出現在第二張</a:t>
            </a:r>
            <a:r>
              <a:rPr lang="en-US" altLang="zh-TW" sz="14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 sz="14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它改變的是走向。</a:t>
            </a:r>
          </a:p>
          <a:p>
            <a:pPr>
              <a:spcAft>
                <a:spcPts val="700"/>
              </a:spcAft>
            </a:pPr>
            <a:r>
              <a:rPr lang="zh-TW" altLang="en-US" sz="14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黑梅在前：還有轉圜，甚至可以絕境逢生。</a:t>
            </a:r>
          </a:p>
          <a:p>
            <a:pPr>
              <a:spcAft>
                <a:spcPts val="700"/>
              </a:spcAft>
            </a:pPr>
            <a:r>
              <a:rPr lang="zh-TW" altLang="en-US" sz="14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黑梅在後：開高走低，雪上加霜。</a:t>
            </a:r>
          </a:p>
          <a:p>
            <a:pPr>
              <a:spcAft>
                <a:spcPts val="700"/>
              </a:spcAft>
            </a:pPr>
            <a:endParaRPr lang="zh-TW" altLang="en-US" sz="145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14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兩張都不是黑梅：逢兇化吉。</a:t>
            </a:r>
          </a:p>
          <a:p>
            <a:pPr>
              <a:spcAft>
                <a:spcPts val="700"/>
              </a:spcAft>
            </a:pPr>
            <a:r>
              <a:rPr lang="zh-TW" altLang="en-US" sz="14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兩張都是黑梅在後：難上加難。</a:t>
            </a:r>
          </a:p>
        </p:txBody>
      </p:sp>
    </p:spTree>
    <p:extLst>
      <p:ext uri="{BB962C8B-B14F-4D97-AF65-F5344CB8AC3E}">
        <p14:creationId xmlns:p14="http://schemas.microsoft.com/office/powerpoint/2010/main" val="246253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92BC79A-FAB8-E312-709F-E3DA93B98903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5DE4F0-C11B-120B-DA90-81ED6455C528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78C4AD3-AB4F-A4BB-C562-4B7EFFAE90F2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7EEC930-05F4-38B1-5134-993023B3F72A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是一段旅程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8F876E-B602-6C4E-DDFD-C46B3D2B4A69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27EFE50-A4B8-0FD3-8380-37075F6E888C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A171523-F86F-1ABE-29E4-F90FE8E11C4C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他先全心全意朝目標出發，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路上出現鬼惑，讓他陷入迷惘；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他開始自覺，也經歷風之塵的變動，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逐漸找回信念，如磐石般堅定；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解開難解之結，看見美麗的彩虹，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在滿月下體悟圓滿；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拿起利斧學會割捨，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遇見真正的財富之神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最後成為精銳戰士、皇后與國王。</a:t>
            </a:r>
          </a:p>
        </p:txBody>
      </p:sp>
    </p:spTree>
    <p:extLst>
      <p:ext uri="{BB962C8B-B14F-4D97-AF65-F5344CB8AC3E}">
        <p14:creationId xmlns:p14="http://schemas.microsoft.com/office/powerpoint/2010/main" val="613573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F177BDE-18B2-45A9-2B94-E8E7D4A7DA73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1369DB-D6E1-6A97-0210-78142C4D6795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0103B33-FF14-28AC-426E-16187D29BDCD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21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21978A8-EED0-EC79-D590-23A9A445A1A3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9E61869-5CDC-94AC-1841-F6338A737C2F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837A66D-2B3C-3147-3BED-C9C79CADAE0F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全心全意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21ED265-B359-6BB8-0361-AF6CB2D174CB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05004B-695D-032A-C535-B5959B10C979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我想做，我渴望擁有。</a:t>
            </a:r>
          </a:p>
          <a:p>
            <a:pPr>
              <a:spcAft>
                <a:spcPts val="700"/>
              </a:spcAft>
            </a:pP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全心全意的付出、投入、渴望</a:t>
            </a:r>
          </a:p>
          <a:p>
            <a:pPr>
              <a:spcAft>
                <a:spcPts val="700"/>
              </a:spcAft>
            </a:pP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弱的時候：動搖、退卻、不堅定</a:t>
            </a:r>
          </a:p>
        </p:txBody>
      </p:sp>
    </p:spTree>
    <p:extLst>
      <p:ext uri="{BB962C8B-B14F-4D97-AF65-F5344CB8AC3E}">
        <p14:creationId xmlns:p14="http://schemas.microsoft.com/office/powerpoint/2010/main" val="2931099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9EBC0C9-79F3-CC98-549D-BBF2D23DAA1B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BFAC5F-64EF-4C34-E875-025D09D89226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A8B71C6-3390-A4BB-755A-7E75A2AEBC1E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22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DA0991E-3263-3A96-D378-B455D9CE119A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692BB7-7487-B296-9F0B-4B188DD108F1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DF2FA4F-8935-0BD6-022E-C9B76E28B2E7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鬼惑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0983899-628C-BE69-ABBA-911E09AAE56F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1F45D3-BD1C-F30E-A923-F4263201C2DC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我卡住了，內心有阻礙。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干擾・質疑・誘惑・內外衝突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弱的時候：猜疑、對立、焦慮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9299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397AFCB-B6A9-F1EA-6CE2-B1D990D53736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BED82C-5DC9-C281-8919-596DE6E8CC10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D88A1B8-4532-0597-1122-47C9411E6C59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23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BBCD1B8-B832-85AC-249A-1A727DFE470F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BEFAEF0-692E-17D0-EB37-EB2C0EA26321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7B468F-A0F6-7323-F741-F2BA45668222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自覺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B8FA904-3F5A-0A6C-1830-091C713F1531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58E7D7E-4761-DA1C-D592-9BD76D779239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我開始看見自己在想什麼。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思考・規劃・看見內在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弱的時候：想法不成熟、沒有計劃、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變化無常、早晚想的不一樣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8472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0FD11CA-5322-D927-66FD-24BD927E8966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17687C-3D51-9D46-93D9-E2189822DF62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1B9C376-C21A-AE66-222D-F16F682DE1C9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24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ADD429C-27BB-E080-E022-66412DB4B885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1B97EA4-1171-220A-BAC7-B5EEA2AB91D4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A8B9515-D51F-1CDC-9F6B-512433AC719D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風之塵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8EADDEF-46E8-27BB-D1A2-A90AB6AF73D4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A4AD7E5-B852-7B89-7D31-1694EEDDAF69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我想快樂自在。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變動・鬆動・轉換・自由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弱的時候：混亂、沒有頭緒、難以控制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1222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68DDC06-9C4D-C3B7-EB01-03E858C44BA9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35B08D-0A50-E91D-C29C-D23274C6E692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F645CB7-662E-E009-C674-A454E26E94E0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25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CC9A20D-9F84-7BFD-3889-9CE6599D46D6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E72E5-D39A-8374-5B65-FF2827F4C4C7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65BF34E-90F3-7FD8-5655-0D841EC3942B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磐石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FA71D3A-73E9-7E6A-E57C-F1230DCF6055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3D12FDA-397D-DA65-7765-0AC9C598346C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我會穩定，開始穩下來。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基礎・穩定・歸屬・堅定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弱的時候：破損的、崩壞的、基礎鬆動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2585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627082B-8548-2E2F-D200-F1E22AEB9A45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16EB67-C8AD-AA89-0637-75A3E32ACA0E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69EE0E0-2727-57EE-0665-5A54BD3980B0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26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00EF9F4-BB17-1CAC-17BE-4B25AB704FA9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DB78EE8-3369-6127-4004-6440DF6F1D5E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F171B0B-4E4C-2033-ACCB-A02E0761BD2E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難解之結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07D6B64-9AF2-220A-9A60-29D14B65FB17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9190E3-6AF1-D472-CDBC-0224C1FDD0C7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我遇到死結，需要學會放下。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困難・卡點・需要解結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但也有絕境逢生、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柳暗花明又一村的意思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2527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8DFA4FF-33B9-6D66-64A0-FAF06500339F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25CC24-63EF-03C9-6998-0C43B8724B73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FC8A717-C380-13F8-6644-03CD2C44CE4F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27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646E3F1-E0B1-3974-A20A-F21E9D2EF268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73FC20B-1F0A-2F72-AAB7-006B9AB165EF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FA0CEA2-AD75-2B65-5C98-556E6C44EF8D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美麗的彩虹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95D5060-519A-40BA-48CF-3B5B68ADA8BC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3C609E1-BF44-CF10-870A-60EE55BD6D28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我有美好的期待，有夢，但尚未實現。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希望・願景・遠方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弱的時候：理想化、落空、逃避現況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5319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D618C76-1ECB-DBD7-8C55-39F975766AA3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C0DBA6-982B-88BA-E3AF-B9CC9DE13280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ACBC34C-0D89-2CC1-4B0B-53AB58D998E1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28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AAD9DC9-D1CB-1DD2-ADAA-D72007A47275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9899411-05F8-36CE-37FC-CD4816BCB802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C55618-7D30-D82E-CAFF-925DA9377A2E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滿月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3A837EF-8A6F-F4A1-103A-92B45903AAAC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D670A39-C5E6-D50D-DF62-53D03A2B26AF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我成熟可實現，事事圓滿。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成熟・圓滿・內外平衡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弱的時候：延遲、忽明忽暗、時好時壞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1213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34F3759-A964-11A9-B8B2-C86A9BB36C3D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950D4E-1F1A-5452-E63C-B804465C7A69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34A52D2-D861-8527-0F0D-6DC84DAEBD56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29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DBBAFB5-01AD-C508-CEA6-4DF5F2DACA85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0CA6845-B870-F637-1A2C-0C7978593289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4E20F99-546B-D64A-670B-233474F5F2DA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利斧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418DB0E-B372-5DF7-B5FB-F1A4A907189E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B08FB3D-AAFD-A94A-3503-853B067582BB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我要具備能力，學習操作我的力量。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工具・切割・處理・果斷抉擇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弱的時候：衝突、過度用力、破壞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1881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B69B135-B590-405C-B6B3-A2632208EDB3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5848C4-E778-91A8-E83A-416620880ADC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9B0DCDD-7DC6-990E-14C1-0574B68A9EE8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30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55F18FA-E0C4-9502-EB5B-C9E3AC314501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75166BE-3C52-17DD-A97F-678768AF8C9D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7F77A6B-9C58-D814-4BA0-0E6ECB04DE9F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財富之神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5DD3AF1-DA55-FA49-E583-E468F6B24E3F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B968FB9-58AE-66EB-362D-BF9E691E3B1F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我不在乎外在的眼光，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我找到自己的價值，自得其樂。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價值・資源・富足・榮華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弱的時候：資源焦慮、失去價值感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8795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210BCAE-5CA5-4B66-15BF-914546386740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D7F84C-2401-31FF-955A-E643E02E1FC3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A885D01-15B5-FBAF-C276-14BAF83F219C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31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34D6531-1A21-ED37-0C47-B5E4173EDB63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7EC71C7-C238-87C8-045D-C5CC42611C3B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F240F6-17FD-3F83-ECE1-03EA14DA7E82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精銳戰士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ACAB7CB-FFE7-3A4B-C0B9-E7BC0FDAA611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5E5D560-03C6-E436-6F5F-CB5DC89704ED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我才華洋溢，衝在前面，有技能可執行。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技能・執行・夥伴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弱的時候：衝動、背離承諾、攻擊性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1795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CB0A920-5E05-CF12-BE7C-1E3BBD7AE3AE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621D6D-06F3-0757-D696-2D43775423EC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8E76163-CDD9-196B-E7FB-9A5A9F0F420E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32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0F7A703-F984-5CF7-5876-8C7F026402B8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2B7AE24-7A39-5E66-36D9-E27A34C07AF4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A86FCA0-E91B-914B-CB63-2B2902E0D551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皇后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49AE898-A4D7-CBFE-CD34-4E762A7534E7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A2DBCA6-6F27-4C43-F5D6-AA86A1EDB241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我能做出成熟的決定。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自信・決策・整合・影響力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弱的時候：走向極端、控制、操弄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8306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5E108C6-A2DE-7C5E-4D3F-40DFD7A3107C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9314F0-EF44-487D-A536-237062B7E374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D47AE67-C50F-992B-4976-D3F1D1C735BF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33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A475877-D953-0E3C-B79C-832436B8BF60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12CAF1-71D8-1EEF-8508-24AC85E935EF}"/>
              </a:ext>
            </a:extLst>
          </p:cNvPr>
          <p:cNvSpPr txBox="1"/>
          <p:nvPr/>
        </p:nvSpPr>
        <p:spPr>
          <a:xfrm>
            <a:off x="1219200" y="1676400"/>
            <a:ext cx="2540000" cy="1397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08111E3-CDAC-86CA-8C22-AE7FB2BC67A5}"/>
              </a:ext>
            </a:extLst>
          </p:cNvPr>
          <p:cNvSpPr txBox="1"/>
          <p:nvPr/>
        </p:nvSpPr>
        <p:spPr>
          <a:xfrm>
            <a:off x="1168400" y="3416300"/>
            <a:ext cx="2641600" cy="660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國王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ECF6B9-8846-A6B4-9FFA-51462172FCE4}"/>
              </a:ext>
            </a:extLst>
          </p:cNvPr>
          <p:cNvSpPr txBox="1"/>
          <p:nvPr/>
        </p:nvSpPr>
        <p:spPr>
          <a:xfrm>
            <a:off x="1257300" y="4711700"/>
            <a:ext cx="2463800" cy="45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2A7CF49-BE44-B9F8-DF16-D575D9328589}"/>
              </a:ext>
            </a:extLst>
          </p:cNvPr>
          <p:cNvSpPr txBox="1"/>
          <p:nvPr/>
        </p:nvSpPr>
        <p:spPr>
          <a:xfrm>
            <a:off x="4699000" y="1765300"/>
            <a:ext cx="6350000" cy="3429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我承擔，我建立信任。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權威・承擔・信任・格局</a:t>
            </a:r>
          </a:p>
          <a:p>
            <a:pPr>
              <a:spcAft>
                <a:spcPts val="700"/>
              </a:spcAft>
            </a:pPr>
            <a:endParaRPr lang="ja-JP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弱的時候：控制過度、支撐不足、版圖鬆動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1533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ECF32AA-3742-C127-D333-317CB4CDFF39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81F113-FE3E-ABCD-939A-1F2AA79D6C7C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5F8C553-77C9-59CB-5251-71B989C372AD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34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215F3A9-65D4-7A29-FFD8-B16A20842A8F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四段旅程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C8C52C-A46A-F50C-83FD-14E12145DBF6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3D55E93-4589-9203-7F25-A053AFDB92AC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CBB27D-FAD6-DDF0-53F0-0AFA5B0724D2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　探索與看見</a:t>
            </a:r>
          </a:p>
          <a:p>
            <a:pPr>
              <a:spcAft>
                <a:spcPts val="700"/>
              </a:spcAft>
            </a:pP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　穩定與轉化</a:t>
            </a:r>
          </a:p>
          <a:p>
            <a:pPr>
              <a:spcAft>
                <a:spcPts val="700"/>
              </a:spcAft>
            </a:pP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　選擇與價值</a:t>
            </a:r>
          </a:p>
          <a:p>
            <a:pPr>
              <a:spcAft>
                <a:spcPts val="700"/>
              </a:spcAft>
            </a:pP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　執行、整合與承擔</a:t>
            </a:r>
          </a:p>
        </p:txBody>
      </p:sp>
    </p:spTree>
    <p:extLst>
      <p:ext uri="{BB962C8B-B14F-4D97-AF65-F5344CB8AC3E}">
        <p14:creationId xmlns:p14="http://schemas.microsoft.com/office/powerpoint/2010/main" val="1874665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94918D4-D17D-447A-2B16-DFF0B46D72EC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422A5A-7193-88D3-EDE5-1EFF6F93497B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36FD94C-A74F-ABAB-5509-D5685B0A1D4C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35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BCAAF51-DCC6-4849-CC35-B2AE71985016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</a:t>
            </a: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到 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C9835C-A50C-7309-D656-93E7C4D26BC6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1CDF607-2B83-F348-1908-985C888264DB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CE42FC4-F35C-273F-9A3E-476FAD81B0AA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　當下的潛在能量與心境，訊息的翻譯器</a:t>
            </a:r>
          </a:p>
          <a:p>
            <a:pPr>
              <a:spcAft>
                <a:spcPts val="700"/>
              </a:spcAft>
            </a:pP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　對錯判斷、是非問題，過去與現在的連結</a:t>
            </a:r>
          </a:p>
          <a:p>
            <a:pPr>
              <a:spcAft>
                <a:spcPts val="700"/>
              </a:spcAft>
            </a:pP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　完整脈絡</a:t>
            </a:r>
          </a:p>
          <a:p>
            <a:pPr>
              <a:spcAft>
                <a:spcPts val="700"/>
              </a:spcAft>
            </a:pP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 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　關係走向、情感波動、親密互動變化</a:t>
            </a:r>
          </a:p>
          <a:p>
            <a:pPr>
              <a:spcAft>
                <a:spcPts val="700"/>
              </a:spcAft>
            </a:pP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 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　合作關係、利益結構、事業動力</a:t>
            </a:r>
          </a:p>
          <a:p>
            <a:pPr>
              <a:spcAft>
                <a:spcPts val="700"/>
              </a:spcAft>
            </a:pP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　能量全圖：內外矛盾、壓力源與動機</a:t>
            </a:r>
          </a:p>
        </p:txBody>
      </p:sp>
    </p:spTree>
    <p:extLst>
      <p:ext uri="{BB962C8B-B14F-4D97-AF65-F5344CB8AC3E}">
        <p14:creationId xmlns:p14="http://schemas.microsoft.com/office/powerpoint/2010/main" val="17921280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56D34C3-9371-65B9-48F4-4756C3850D53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ECBAB0-1545-57B4-1602-947F59EE2BDD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02F7F4C-817B-0236-9239-5F1ABB9412B9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36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B427AB0-0FD4-644C-6E22-87C9120FE05F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兩張牌：第二張定調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313E0E-9144-73C7-DEA8-78EEEDEECE9B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0DA6CA9-ACBD-9702-12A7-E4D4E7D39D83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4156B3C-A6F6-5BEC-87DE-5F6E1DCC66A1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第一張 ＝ 前因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第二張 ＝ 最後的結果，或該如何解決</a:t>
            </a:r>
          </a:p>
          <a:p>
            <a:pPr>
              <a:spcAft>
                <a:spcPts val="700"/>
              </a:spcAft>
            </a:pPr>
            <a:endParaRPr lang="zh-TW" altLang="en-US" sz="13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 O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＝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</a:t>
            </a:r>
          </a:p>
          <a:p>
            <a:pPr>
              <a:spcAft>
                <a:spcPts val="700"/>
              </a:spcAft>
            </a:pP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X X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＝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X</a:t>
            </a:r>
          </a:p>
          <a:p>
            <a:pPr>
              <a:spcAft>
                <a:spcPts val="700"/>
              </a:spcAft>
            </a:pP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 X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＝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X</a:t>
            </a:r>
          </a:p>
          <a:p>
            <a:pPr>
              <a:spcAft>
                <a:spcPts val="700"/>
              </a:spcAft>
            </a:pP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X O </a:t>
            </a: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＝ </a:t>
            </a:r>
            <a:r>
              <a:rPr lang="en-US" altLang="zh-TW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前因有好有壞，</a:t>
            </a:r>
          </a:p>
          <a:p>
            <a:pPr>
              <a:spcAft>
                <a:spcPts val="700"/>
              </a:spcAft>
            </a:pPr>
            <a:r>
              <a:rPr lang="zh-TW" altLang="en-US" sz="13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但要看第二張，結論才知最後的果報。</a:t>
            </a:r>
          </a:p>
        </p:txBody>
      </p:sp>
    </p:spTree>
    <p:extLst>
      <p:ext uri="{BB962C8B-B14F-4D97-AF65-F5344CB8AC3E}">
        <p14:creationId xmlns:p14="http://schemas.microsoft.com/office/powerpoint/2010/main" val="32759371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B56DB5B-A450-F43E-70FF-AD9BA697F98A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B99124-830B-88C9-EE5D-FE02B42DC095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1E9A016-22CC-13B5-3FBE-8F99B0F35E73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37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4173E6C-D4F1-0EA0-7925-7021BED6F156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三張牌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ACC771-E2E3-DA05-DF21-AD913BAEB1EC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80BEE8D-F103-0F0A-0A3B-29740C37DBFB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34446B3-DC33-C15F-AC32-B7CC78CEA008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用三張牌，說出一個完整的脈絡。</a:t>
            </a:r>
          </a:p>
          <a:p>
            <a:pPr>
              <a:spcAft>
                <a:spcPts val="700"/>
              </a:spcAft>
            </a:pP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先各自說核心，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再看三張之間怎麼承接，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最後請當事人核對。</a:t>
            </a:r>
          </a:p>
        </p:txBody>
      </p:sp>
    </p:spTree>
    <p:extLst>
      <p:ext uri="{BB962C8B-B14F-4D97-AF65-F5344CB8AC3E}">
        <p14:creationId xmlns:p14="http://schemas.microsoft.com/office/powerpoint/2010/main" val="1575934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9E434AE-9BC8-A595-3BF9-88E10B6BF647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04A7C-EFAC-FAEE-A7F0-A6F7ABD23F66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8766AF-C18B-2A28-8316-2BE857F4F61B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38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2797910-DD94-E7A5-7701-FF51DF2B85A0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解牌的順序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5DB9EE-0D02-5298-E16C-E4085257749B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2CE8A1A-9FCA-F646-B153-256C80F194D1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DCE8672-7527-C831-7000-F0DB3E5D2301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問題 → 位置 → 數字 → 花色 → 組合 → 核對</a:t>
            </a:r>
          </a:p>
        </p:txBody>
      </p:sp>
    </p:spTree>
    <p:extLst>
      <p:ext uri="{BB962C8B-B14F-4D97-AF65-F5344CB8AC3E}">
        <p14:creationId xmlns:p14="http://schemas.microsoft.com/office/powerpoint/2010/main" val="40392093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7C8EE97-EFB9-EAA8-79EC-83C9FA0E6312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1C21C1-ADC1-7348-4681-B978CFDAD203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43E135F-5105-7E7A-4507-7558E07D4B5F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39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D50FAA1-73A5-AA7C-5724-6D88A0DEB2F6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特殊組合：先看規則，不用硬背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4135A1-3561-B5F4-548D-7C8263BB140A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A7E0112-9C0D-B012-1214-5CDE4604474B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FF12978-031F-5E76-F598-56324A36C4A2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同數字出現兩次</a:t>
            </a: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主題被放大或重複</a:t>
            </a:r>
          </a:p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黑梅的位置</a:t>
            </a: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決定走向（見 </a:t>
            </a: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S19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  <a:p>
            <a:pPr>
              <a:spcAft>
                <a:spcPts val="700"/>
              </a:spcAft>
            </a:pP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＋</a:t>
            </a: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＋</a:t>
            </a: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Q——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工具遇上執行或決策</a:t>
            </a:r>
          </a:p>
          <a:p>
            <a:pPr>
              <a:spcAft>
                <a:spcPts val="700"/>
              </a:spcAft>
            </a:pP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之間</a:t>
            </a:r>
            <a:r>
              <a:rPr lang="en-US" altLang="zh-TW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合作、角色與權力的互動</a:t>
            </a:r>
          </a:p>
          <a:p>
            <a:pPr>
              <a:spcAft>
                <a:spcPts val="700"/>
              </a:spcAft>
            </a:pPr>
            <a:endParaRPr lang="zh-TW" altLang="en-US" sz="215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215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最終語意仍然回到位置與情境</a:t>
            </a:r>
          </a:p>
        </p:txBody>
      </p:sp>
    </p:spTree>
    <p:extLst>
      <p:ext uri="{BB962C8B-B14F-4D97-AF65-F5344CB8AC3E}">
        <p14:creationId xmlns:p14="http://schemas.microsoft.com/office/powerpoint/2010/main" val="30161203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05E3591-552B-601F-4EC5-04EA7E6F2EC4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DE2AD3-3FF5-5028-83B9-4B9798A69896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65BDE62-A0D2-CCBC-0AAE-47B4D65CCC3F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40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F2627A2-E5AF-2D7C-28FA-4ED8A8E9E863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資訊不夠的時候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27B236-B08F-FA75-0CDC-CE38FD5D5C3C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C924F49-093D-2497-A003-CFF252A5C01E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2DAEFF-4B7A-7E11-B282-9AC58EDB22EF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先回到問題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→ 補充人事時地物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→ 必要時只補一張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→ 仍不清楚就停下來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不重複抽到滿意為止。</a:t>
            </a:r>
          </a:p>
        </p:txBody>
      </p:sp>
    </p:spTree>
    <p:extLst>
      <p:ext uri="{BB962C8B-B14F-4D97-AF65-F5344CB8AC3E}">
        <p14:creationId xmlns:p14="http://schemas.microsoft.com/office/powerpoint/2010/main" val="40028202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24975A5-0E0F-2EEC-05DC-048E0F8BF12A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B8A178-ED34-F511-3C0F-9A1D6C4B2852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C036EDD-4937-5A51-3C6D-6B59AA63EB7A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41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3F6D72E-F4E3-0FBA-252D-87957984258C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練習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BA88B4-57E0-083B-BF26-26E739B89E40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0D27C71-E5CC-5B7B-6D61-5947EE955380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184C7D7-7243-82DF-A7EE-718B8A80DF7B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1. 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寫下一個具體的問題（人事時地物要明確）</a:t>
            </a:r>
          </a:p>
          <a:p>
            <a:pPr>
              <a:spcAft>
                <a:spcPts val="700"/>
              </a:spcAft>
            </a:pP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2. 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抽 </a:t>
            </a: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</a:t>
            </a:r>
          </a:p>
          <a:p>
            <a:pPr>
              <a:spcAft>
                <a:spcPts val="700"/>
              </a:spcAft>
            </a:pP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3. 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說出數字、花色與位置</a:t>
            </a:r>
          </a:p>
          <a:p>
            <a:pPr>
              <a:spcAft>
                <a:spcPts val="700"/>
              </a:spcAft>
            </a:pP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4. 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組成三句話</a:t>
            </a:r>
          </a:p>
          <a:p>
            <a:pPr>
              <a:spcAft>
                <a:spcPts val="700"/>
              </a:spcAft>
            </a:pP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5. 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留下一個可以做的下一步</a:t>
            </a:r>
          </a:p>
        </p:txBody>
      </p:sp>
    </p:spTree>
    <p:extLst>
      <p:ext uri="{BB962C8B-B14F-4D97-AF65-F5344CB8AC3E}">
        <p14:creationId xmlns:p14="http://schemas.microsoft.com/office/powerpoint/2010/main" val="113861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CF7FD3D-2297-CFEF-D22F-46E9D6EFB700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E10659-ECC8-1DDE-AD0D-C547639E9807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21743A9-9162-CEB9-3577-B82F487E005F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42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36B1835-AE15-B666-636D-83EF9E754A22}"/>
              </a:ext>
            </a:extLst>
          </p:cNvPr>
          <p:cNvSpPr txBox="1"/>
          <p:nvPr/>
        </p:nvSpPr>
        <p:spPr>
          <a:xfrm>
            <a:off x="787400" y="965200"/>
            <a:ext cx="10414000" cy="7366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三句話，讓解牌變成對話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15E0CD-9641-2CFF-5B86-3AEBC5C60B61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9ADBB3F-BFB6-7C05-0015-E9B4762124BC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B19B6E7-BECD-CEFA-AFEF-3F7A2981016E}"/>
              </a:ext>
            </a:extLst>
          </p:cNvPr>
          <p:cNvSpPr txBox="1"/>
          <p:nvPr/>
        </p:nvSpPr>
        <p:spPr>
          <a:xfrm>
            <a:off x="1193800" y="2514600"/>
            <a:ext cx="9804400" cy="29972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「這組牌呈現出</a:t>
            </a:r>
            <a:r>
              <a:rPr lang="en-US" altLang="zh-TW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……</a:t>
            </a: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的狀態。」</a:t>
            </a:r>
          </a:p>
          <a:p>
            <a:pPr>
              <a:spcAft>
                <a:spcPts val="700"/>
              </a:spcAft>
            </a:pP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「這和你現在的經驗，有哪些相符、哪些不相符？」</a:t>
            </a:r>
          </a:p>
          <a:p>
            <a:pPr>
              <a:spcAft>
                <a:spcPts val="700"/>
              </a:spcAft>
            </a:pP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「如果把它當成提醒，你願意先調整哪一步？」</a:t>
            </a:r>
          </a:p>
        </p:txBody>
      </p:sp>
    </p:spTree>
    <p:extLst>
      <p:ext uri="{BB962C8B-B14F-4D97-AF65-F5344CB8AC3E}">
        <p14:creationId xmlns:p14="http://schemas.microsoft.com/office/powerpoint/2010/main" val="11953104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A074C60-A801-7745-9F63-4014902721AE}"/>
              </a:ext>
            </a:extLst>
          </p:cNvPr>
          <p:cNvSpPr txBox="1"/>
          <p:nvPr/>
        </p:nvSpPr>
        <p:spPr>
          <a:xfrm>
            <a:off x="685800" y="279400"/>
            <a:ext cx="5334000" cy="304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F76E5D-0147-1CF4-1A89-99128E8C206A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ACF8AA3-DD9A-070F-4DEA-6313FAB5346F}"/>
              </a:ext>
            </a:extLst>
          </p:cNvPr>
          <p:cNvSpPr txBox="1"/>
          <p:nvPr/>
        </p:nvSpPr>
        <p:spPr>
          <a:xfrm>
            <a:off x="9144000" y="6413500"/>
            <a:ext cx="2362200" cy="2540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43  ·  v0.2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90A020E-9D39-A387-136D-28F386CD50BC}"/>
              </a:ext>
            </a:extLst>
          </p:cNvPr>
          <p:cNvSpPr txBox="1"/>
          <p:nvPr/>
        </p:nvSpPr>
        <p:spPr>
          <a:xfrm>
            <a:off x="863600" y="1041400"/>
            <a:ext cx="10464800" cy="6858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noAutofit/>
          </a:bodyPr>
          <a:lstStyle/>
          <a:p>
            <a:pPr>
              <a:spcAft>
                <a:spcPts val="700"/>
              </a:spcAft>
            </a:pPr>
            <a:r>
              <a:rPr lang="zh-TW" altLang="en-US" sz="22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結語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A19383B-9420-53DF-D09B-706BDA98DCDC}"/>
              </a:ext>
            </a:extLst>
          </p:cNvPr>
          <p:cNvSpPr/>
          <p:nvPr/>
        </p:nvSpPr>
        <p:spPr>
          <a:xfrm>
            <a:off x="1066800" y="2006600"/>
            <a:ext cx="10058400" cy="31750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63B2B3-D807-F4CB-602B-72F86EB0913E}"/>
              </a:ext>
            </a:extLst>
          </p:cNvPr>
          <p:cNvSpPr txBox="1"/>
          <p:nvPr/>
        </p:nvSpPr>
        <p:spPr>
          <a:xfrm>
            <a:off x="1549400" y="2374900"/>
            <a:ext cx="9093200" cy="243840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no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看見，不是被定義。</a:t>
            </a:r>
          </a:p>
          <a:p>
            <a:pPr algn="ctr">
              <a:spcAft>
                <a:spcPts val="700"/>
              </a:spcAft>
            </a:pPr>
            <a:r>
              <a:rPr lang="zh-TW" altLang="en-US" sz="19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選擇，才是掌運的開始。</a:t>
            </a:r>
          </a:p>
          <a:p>
            <a:pPr algn="ctr">
              <a:spcAft>
                <a:spcPts val="700"/>
              </a:spcAft>
            </a:pPr>
            <a:endParaRPr lang="zh-TW" altLang="en-US" sz="195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ctr">
              <a:spcAft>
                <a:spcPts val="700"/>
              </a:spcAft>
            </a:pPr>
            <a:r>
              <a:rPr lang="zh-TW" altLang="en-US" sz="19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運在手中，心之所向。</a:t>
            </a:r>
          </a:p>
          <a:p>
            <a:pPr algn="ctr">
              <a:spcAft>
                <a:spcPts val="700"/>
              </a:spcAft>
            </a:pPr>
            <a:r>
              <a:rPr lang="en-US" altLang="zh-TW" sz="195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 &amp; A</a:t>
            </a:r>
            <a:endParaRPr lang="zh-TW" altLang="en-US" sz="195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FCF4B481-F289-4830-FB5E-C0BF0B920DEF}"/>
              </a:ext>
            </a:extLst>
          </p:cNvPr>
          <p:cNvSpPr/>
          <p:nvPr/>
        </p:nvSpPr>
        <p:spPr>
          <a:xfrm>
            <a:off x="5537200" y="5537200"/>
            <a:ext cx="1117600" cy="1117600"/>
          </a:xfrm>
          <a:prstGeom prst="ellipse">
            <a:avLst/>
          </a:prstGeom>
          <a:solidFill>
            <a:srgbClr val="F1D9D5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4014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4309</Words>
  <Application>Microsoft Office PowerPoint</Application>
  <PresentationFormat>自訂</PresentationFormat>
  <Paragraphs>495</Paragraphs>
  <Slides>43</Slides>
  <Notes>43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48" baseType="lpstr">
      <vt:lpstr>Microsoft JhengHei UI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Ta-loom Hwang</dc:creator>
  <cp:lastModifiedBy>Ta-loom Hwang</cp:lastModifiedBy>
  <cp:revision>1</cp:revision>
  <dcterms:created xsi:type="dcterms:W3CDTF">2026-08-26T03:11:27Z</dcterms:created>
  <dcterms:modified xsi:type="dcterms:W3CDTF">2026-08-26T03:11:27Z</dcterms:modified>
</cp:coreProperties>
</file>