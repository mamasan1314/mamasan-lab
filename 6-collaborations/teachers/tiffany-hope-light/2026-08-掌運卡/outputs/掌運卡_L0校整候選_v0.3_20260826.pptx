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AB982-5470-4024-AEAB-7A51FBDDC370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C10FA-8FBA-4566-ACA9-CE60B4DF49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49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2026-08-26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回饋＋九月版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處理：封面依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最新回饋補入課程定位；原封面關鍵詞保留。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681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2026-08-26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回饋
處理：以老師最新校正文案完整取代確定式的單一路線敘述。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978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84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9152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5355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387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1662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242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368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2026-08-26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回饋
處理：區分文化象徵與實際用牌規則；移除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91×4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Joker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曆法算式。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3189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九月版原始講者備註：
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2696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297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844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待確認：來源差異｜三張牌位置有兩套說法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027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待確認：來源差異｜三張牌位置有兩套說法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33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待確認：文字待確認｜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5028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待確認：文字待確認｜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109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370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1834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8463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待確認：文字待確認｜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2633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7483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9079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9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45187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2005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79433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308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11951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2841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待確認：高風險原文｜涉及性傾向與隱私推論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73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8328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0844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528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0682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55384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68545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14158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9244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84459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待確認：高風險原文｜涉及身體狀況推論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3986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待確認：高風險原文｜涉及身體狀況推論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0040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待確認：高風險原文｜涉及健康與生死措辭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64647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0631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3630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待確認：高風險原文｜涉及抽血與健康處置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20027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01496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4780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待確認：高風險原文｜涉及抽血、血光與健康處置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355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待確認：高風險原文｜涉及抽血、血光與健康處置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9195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
九月版原始講者備註：
要不要 做不做也是一線之隔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44079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6640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23347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91220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41209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337275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待確認：高風險原文｜涉及健康與第三人感情推論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77767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待確認：高風險原文｜涉及健康與第三人感情推論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641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12358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待確認：高風險原文｜涉及性傾向與隱私推論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45509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57370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待確認：高風險原文｜涉及健康與感情宣判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3269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待確認：高風險原文｜涉及健康與第三人感情推論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04040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待確認：高風險原文｜涉及健康與第三人感情推論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31030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57940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待確認：高風險原文｜涉及健康與生死措辭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48353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51848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68112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S46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69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52513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S47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234614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S48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48232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九月版原始講者備註：
取個位數算要夸出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19986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S49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05697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S50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12799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待確認：來源差異｜不確定牌與補牌規則待裁定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88755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S51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待確認：來源差異｜不確定牌與補牌規則待裁定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49932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待確認：高風險原文｜涉及健康、因果與第三人問題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49811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待確認：高風險原文｜涉及健康、因果與第三人問題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74025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待確認：高風險原文｜涉及健康、因果與第三人問題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79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193155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待確認：來源差異｜補牌規則有兩套說法
九月版原始講者備註：
尾牌有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 其他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就是沒有好結果 過了一天要重牌換ㄍ方式問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2 3 4 6 7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不論花色和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都是不確定牌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都要補牌其他牌的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是沒有看到好結果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5371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S53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待確認：來源差異｜補牌規則有兩套說法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85690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待確認：來源差異｜花色名稱與規則和前文不一致
九月版原始講者備註：
尾牌有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 其他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就是沒有好結果 過了一天要重牌換ㄍ方式問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2 3 4 6 7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不論花色和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都是不確定牌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都要補牌其他牌的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是沒有看到好結果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335712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待確認：來源差異｜花色名稱與規則和前文不一致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30307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
九月版原始講者備註：
尾牌有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 其他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就是沒有好結果 過了一天要重牌換ㄍ方式問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2 3 4 6 7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不論花色和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都是不確定牌
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都要補牌其他牌的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是沒有看到好結果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2415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狀態：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 L0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校整候選；未經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核准。
來源：九月版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S55
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處理：九月版來源原文；只做分頁、標題、標點空白與版面校整。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6C10FA-8FBA-4566-ACA9-CE60B4DF49AA}" type="slidenum">
              <a:rPr lang="zh-TW" altLang="en-US" smtClean="0"/>
              <a:t>85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175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08C1C6-CE99-7B2C-1174-8CC38D3E8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F8366F4-65C9-4A93-6924-9050C7CBF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9D1DDC5-5BEA-4C73-A306-917BB250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AE7DBE-7C64-8AE8-0837-1F39B9DFB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2A2602-BF0C-7060-19C3-DF71197BD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85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F5D505-47E4-4F67-2426-01745231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C9147A-B83B-C28F-27EA-76C4E4D4B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467A97-CF02-8BE2-949C-A1C196E87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BAF859-75A8-D4BE-171B-9237BE8F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03D908-DD6E-87C6-4A7C-BA7BACD4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35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6C103E-7AA2-D392-900B-E3F33A1B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AB59FE-3498-E30A-DC6D-1F433B74F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3576F7-0940-C403-54E5-F3CE6EB9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B834D6-44B4-C0DD-0FBC-A4D8CA00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BB13F9-9466-A79B-1905-80FE7FEA8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7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CFFAFA-2E5F-C711-E79B-A9208C0D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714191-C9E3-A14A-0B5D-56DF9CBA1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4C6B1F-E1CD-D4AF-A6EC-65084E9D5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18CC46-A8BD-D435-249E-21EEE313F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4221B7-2FA4-EDC0-630D-17FC3E764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0807CC-685E-D056-D6C0-2A1503BE3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07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10F34-51AE-32D1-5E57-A530F2CE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9A3CC3-FCE5-773C-3504-92D4A855E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B37323-0035-0805-B044-D80545C3C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009A5C3-8306-0EB7-5464-F476D0758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6C8BFB-400A-74AD-D7A0-6D181F327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F7CB9B-ABA0-29F8-64E5-791C919C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A8A0D6F-D85B-69B7-1A89-4BF8A879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7A0CF15-5DD2-49C4-DA4C-3776599C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027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4ADA75-A3D2-19C4-FA8A-41C1D09D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899EF4A-4651-8C1B-D4AF-905181EF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3D8EADC-D61F-F792-1284-4BD79E9C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6E202C-3A8D-EF09-A04E-0D9C42A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76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EE245D-EF74-91EA-AAE9-564882F8D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CE9D6E0-9483-8DFF-09FC-2ADFDA7AE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7FF200-F740-60B7-C26D-598C9DE5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63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46805E-F002-5C8D-78EF-29C3AD6F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D87F43-CE77-1D1A-4D4B-A2B79F503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E87119-F869-85FD-5B8A-59AC871B6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DA8CA-1171-C4EE-C6A9-8D060CA5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901080-B20C-9922-2F4F-991CCCDE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1CEBC01-6B6A-BFF0-DA81-F54D72D7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12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4C104-CC07-C952-106C-93B1E0A4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5736378-34F4-47D7-27D9-CD887776A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EC300B1-DB28-2BC8-7A4F-DEDC049B6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07053F-9E81-9CBC-DAD2-94A1324F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2DBE22-CB45-80D2-CF88-4F93ECCB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ED1BFA7-0DAC-432C-E581-ECA669F8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957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799982-9D1B-5179-EF0C-E68A3734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30ADD6-B0C2-3AD6-5BF2-122FD280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689D98-18F0-2C67-4D5D-2BABFDE93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4FF095-EEE2-2C85-59B8-A6D5C84DD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63200F-884C-8B90-071F-9091A792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88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EFBBC85-BC1D-A774-DE20-23E269227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8A1A37-41F2-8E8E-87BD-814CF2B6A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25B2FC-259E-811B-919B-76C854D8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7796FA-6DA8-5608-4874-86524460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9F46E3-8867-79B1-90A9-222245047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505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0AB350C-24F4-E227-6EC0-71885F799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936CB8-EEC9-CCBE-02E3-0F0F698E4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9A9DC-82A0-C748-0ECE-299B882F6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5139A-F71C-4FE3-AFD4-E392B0651373}" type="datetimeFigureOut">
              <a:rPr lang="zh-TW" altLang="en-US" smtClean="0"/>
              <a:t>2026/8/26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96CA78-91AD-B85B-0822-C97603E43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E42B2F-8484-4813-0DD6-D32C50476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FC7A8-0DD9-45A8-895E-42F2F7301D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2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1_S01_01">
    <p:bg>
      <p:bgPr>
        <a:solidFill>
          <a:srgbClr val="26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F2E20FA3-446D-26D2-3089-31E1424DD475}"/>
              </a:ext>
            </a:extLst>
          </p:cNvPr>
          <p:cNvSpPr/>
          <p:nvPr/>
        </p:nvSpPr>
        <p:spPr>
          <a:xfrm>
            <a:off x="8382000" y="-952500"/>
            <a:ext cx="4508500" cy="4508500"/>
          </a:xfrm>
          <a:prstGeom prst="ellipse">
            <a:avLst/>
          </a:prstGeom>
          <a:solidFill>
            <a:srgbClr val="B98B43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DC262847-4D52-0D77-BBD3-8A948E34C0F0}"/>
              </a:ext>
            </a:extLst>
          </p:cNvPr>
          <p:cNvSpPr/>
          <p:nvPr/>
        </p:nvSpPr>
        <p:spPr>
          <a:xfrm>
            <a:off x="9652000" y="3492500"/>
            <a:ext cx="2921000" cy="2921000"/>
          </a:xfrm>
          <a:prstGeom prst="ellipse">
            <a:avLst/>
          </a:prstGeom>
          <a:solidFill>
            <a:srgbClr val="C87876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4985CE-61FA-563E-EDB1-F6A38CDF4C35}"/>
              </a:ext>
            </a:extLst>
          </p:cNvPr>
          <p:cNvSpPr txBox="1"/>
          <p:nvPr/>
        </p:nvSpPr>
        <p:spPr>
          <a:xfrm>
            <a:off x="889000" y="584200"/>
            <a:ext cx="3683000" cy="355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300" b="1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endParaRPr lang="zh-TW" altLang="en-US" sz="1300" b="1">
              <a:solidFill>
                <a:srgbClr val="EEDFC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98603D-4B36-663E-31E0-6971CBBCA722}"/>
              </a:ext>
            </a:extLst>
          </p:cNvPr>
          <p:cNvSpPr txBox="1"/>
          <p:nvPr/>
        </p:nvSpPr>
        <p:spPr>
          <a:xfrm>
            <a:off x="889000" y="1371600"/>
            <a:ext cx="6985000" cy="11430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5000" b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A07ECC-4A8D-E93B-3110-C6522E57A068}"/>
              </a:ext>
            </a:extLst>
          </p:cNvPr>
          <p:cNvSpPr txBox="1"/>
          <p:nvPr/>
        </p:nvSpPr>
        <p:spPr>
          <a:xfrm>
            <a:off x="914400" y="2489200"/>
            <a:ext cx="5080000" cy="609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700" b="1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映照課程</a:t>
            </a:r>
          </a:p>
        </p:txBody>
      </p:sp>
      <p:sp>
        <p:nvSpPr>
          <p:cNvPr id="7" name="L0_BODY">
            <a:extLst>
              <a:ext uri="{FF2B5EF4-FFF2-40B4-BE49-F238E27FC236}">
                <a16:creationId xmlns:a16="http://schemas.microsoft.com/office/drawing/2014/main" id="{CD5210F2-1517-DE2F-709B-C31A034CA6A6}"/>
              </a:ext>
            </a:extLst>
          </p:cNvPr>
          <p:cNvSpPr txBox="1"/>
          <p:nvPr/>
        </p:nvSpPr>
        <p:spPr>
          <a:xfrm>
            <a:off x="914400" y="3454400"/>
            <a:ext cx="7366000" cy="1092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200" b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牌不是替你決定答案，
而是映照當下的狀態，讓你看見選擇。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ECCF93C-0BEC-37E6-F715-1D8AF4F5D29B}"/>
              </a:ext>
            </a:extLst>
          </p:cNvPr>
          <p:cNvSpPr txBox="1"/>
          <p:nvPr/>
        </p:nvSpPr>
        <p:spPr>
          <a:xfrm>
            <a:off x="914400" y="4826000"/>
            <a:ext cx="7366000" cy="787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F1DAD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人人可用　自由提問　內在連結
自由探索內在　感知能量狀態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95BD374-2898-96A7-C26E-60313BDA8567}"/>
              </a:ext>
            </a:extLst>
          </p:cNvPr>
          <p:cNvSpPr txBox="1"/>
          <p:nvPr/>
        </p:nvSpPr>
        <p:spPr>
          <a:xfrm>
            <a:off x="889000" y="5765800"/>
            <a:ext cx="4191000" cy="457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30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 ♥   ♦   ♣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EBE0118-758C-F607-6665-55500CF6D131}"/>
              </a:ext>
            </a:extLst>
          </p:cNvPr>
          <p:cNvSpPr txBox="1"/>
          <p:nvPr/>
        </p:nvSpPr>
        <p:spPr>
          <a:xfrm>
            <a:off x="7048500" y="62992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v0.3</a:t>
            </a:r>
            <a:r>
              <a:rPr lang="zh-TW" altLang="en-US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 </a:t>
            </a:r>
            <a:r>
              <a:rPr lang="en-US" altLang="zh-TW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mamasan</a:t>
            </a:r>
            <a:r>
              <a:rPr lang="zh-TW" altLang="en-US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 sz="850">
                <a:solidFill>
                  <a:srgbClr val="EEDFC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</a:t>
            </a:r>
          </a:p>
        </p:txBody>
      </p:sp>
    </p:spTree>
    <p:extLst>
      <p:ext uri="{BB962C8B-B14F-4D97-AF65-F5344CB8AC3E}">
        <p14:creationId xmlns:p14="http://schemas.microsoft.com/office/powerpoint/2010/main" val="183760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2_S0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6F4928D-8EDF-921E-0151-D2B17CF7E5E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015299-4EA6-D889-AE86-19C4A0D61B9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2026-08-26 </a:t>
            </a: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C181C2-97D7-BF5B-882C-8393AFD63A43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437C6FC-9491-C59A-390D-5A5AAE31CED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6898EA-B4F6-9687-BE30-0A45EF1A1CC2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紙牌文化的發展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683AD-511D-2D08-A083-D41CF3C9E36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3563F46-0998-DB2F-EE97-7A8EDC358CD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BAB125D4-72C2-8E14-F6A0-95997A4E78C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中國唐代已有「葉子戲」的記載，也有人認為它與早期紙牌文化有關。
之後，不同地區陸續發展出各自的紙牌形式。
中東有馬穆魯克紙牌，歐洲則逐漸形成花色與宮廷牌，最後演變成今天我們熟悉的撲克牌。</a:t>
            </a:r>
          </a:p>
        </p:txBody>
      </p:sp>
    </p:spTree>
    <p:extLst>
      <p:ext uri="{BB962C8B-B14F-4D97-AF65-F5344CB8AC3E}">
        <p14:creationId xmlns:p14="http://schemas.microsoft.com/office/powerpoint/2010/main" val="344580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3_S0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70BE37-799E-F8E4-F19B-F2F43F13621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1F744C1-F733-0518-E087-B142BA8C9590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4851C2-B37E-8960-5F6B-08F7113E863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B6ED01-9043-EDD5-4C7E-489E9064CEE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141A8D-15F1-87C1-501E-AB4AB89B4A51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何謂掌運卡（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18F492-8176-4ACB-66C3-94F8AFD2B94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F5CAE62-E0F5-D9E5-0490-B7527B46622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F0A697BD-E1F6-008D-44AE-460954304B7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自我靈性覺知，
藉由自身的提問，
啟動真如的自我靈性牽引肉身的選牌
找出凡身的迷失及解決方法
一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何謂撲克牌掌運卡，
就是慧、 智的結合，
心智與洞察力
至少有兩種不同的意思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指智力與思考力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B.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指對人有啟發引導</a:t>
            </a:r>
          </a:p>
        </p:txBody>
      </p:sp>
    </p:spTree>
    <p:extLst>
      <p:ext uri="{BB962C8B-B14F-4D97-AF65-F5344CB8AC3E}">
        <p14:creationId xmlns:p14="http://schemas.microsoft.com/office/powerpoint/2010/main" val="153045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4_S03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3F399B2-D300-0FC0-1DFE-DF62F11CEF9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9800113-74A9-6FDA-9D79-23ADC7CD44F6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37E008-2511-B243-907C-AD759CF3B0C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B6F6C4-1FEF-6954-70A5-602BD5D74617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1E9FD0-4ECF-740F-8A47-DA3E61F67D84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何謂掌運卡（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E8ABEA-90D2-2ABF-9B17-43FD698607F8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B8CB83F-266D-5E10-B32E-762D059C97E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13C16010-D8D7-CCDD-CCB2-136468302BA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他人深刻洞察
四： 不算命不看運，
除迷解惑，運勢自明
除去迷惑直指人心
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融合道、法、術、 器、識、志六字真言的顯化
學習掌運卡不止是自我成長
更是成為溫柔引導他人力量
志
器
法
術</a:t>
            </a:r>
          </a:p>
        </p:txBody>
      </p:sp>
    </p:spTree>
    <p:extLst>
      <p:ext uri="{BB962C8B-B14F-4D97-AF65-F5344CB8AC3E}">
        <p14:creationId xmlns:p14="http://schemas.microsoft.com/office/powerpoint/2010/main" val="2421499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5_S03_0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48ED126-5CB3-3D6F-0B4F-25F99EC2C2DF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93A57-0A76-1DE3-796D-D7115FB8041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AF5AFB-593E-0990-0BA4-A84F78148C04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D2B02C-9DF7-69CF-CF1D-66B42513212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760BAA-8EA0-0BA2-148D-B7D883B9A98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何謂掌運卡（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575821-B790-ACF3-89C2-003CE791343E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0C4A64B-AEC1-3A5A-7817-AB6B5DD73F3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E8A5C56-9903-C39B-11B1-4E98DB1972E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識
道</a:t>
            </a:r>
          </a:p>
        </p:txBody>
      </p:sp>
    </p:spTree>
    <p:extLst>
      <p:ext uri="{BB962C8B-B14F-4D97-AF65-F5344CB8AC3E}">
        <p14:creationId xmlns:p14="http://schemas.microsoft.com/office/powerpoint/2010/main" val="2625352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6_S0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315005B-0C40-133B-DCEA-1880F225A4AF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670E1B-0380-1DA4-4351-9EE71D3EF0DA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C73D8D-2763-9B39-C905-CCFBEAA87076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54A5BB6-FA92-7E5F-392B-2DE236FDC66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4A4B2AF-3E03-2F35-58BD-853BDD9FB52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六字真言淺談（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14FE41-2714-3436-CA11-8CF2284D57E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092B1E0-A5A1-1DDF-93BD-6376308AD57B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897D45C4-BB24-2B93-7423-45F58DCC2BC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道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你的生命信仰與靈性源頭
「道」是意識、意圖、願景、使命，指引你存在的核心來源與方向。
融合意義：顯化的「初衷」，沒有道，就容易迷失。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法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你的行動準則與實踐方法
「法」是將內在信仰體化為具體行動的規範與過程，是讓理想得以實現的道路。
融合意義：貫徹的「路徑」，沒有法，理想無法落地。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術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你的執行手法與靈活技巧
「術」是根據法則之下，靈活運用的各種操作與執行技巧，是具體行動的方法。
融合意義：落地的「手段」，沒有術，難以靈活達成。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器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你的技能資源與實踐工具
「器」是你在世界上使用的各種工具、資源與技藝，協助你完成任務與目標。</a:t>
            </a:r>
          </a:p>
        </p:txBody>
      </p:sp>
    </p:spTree>
    <p:extLst>
      <p:ext uri="{BB962C8B-B14F-4D97-AF65-F5344CB8AC3E}">
        <p14:creationId xmlns:p14="http://schemas.microsoft.com/office/powerpoint/2010/main" val="104007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7_S04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1D8ECFD-6D7D-40CB-3ACD-A43ABD9C6D8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0B85BA-32AC-314A-492B-396A3EC96C7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B1BAAF-FA15-E19C-C5F3-78D36DEA0010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645C84B-C016-FAC4-3651-EE9BE607480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6F7A81F-327C-5DEB-B819-93B1DDF3AE4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六字真言淺談（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B03FB5-C1B1-B919-F8E0-D6982BC31A07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179A400-B8C8-C6B2-F3CE-DE8805657C0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1A1A752-6FA6-13B8-8F69-D2F99DFFC007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融合意義：實現的「工具」，沒有器，執行受限。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識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你的覺察力與判斷智慧
「識」是看清現實、辨別對錯、選擇方向的能力，幫助你在變化中保持清明。
融合意義：指引的「明燈」，沒有識，容易迷失與誤判。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志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】→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你的目標動力與推進能量
「志」是你想要達成的志向與抱負，是推動你不斷前行、跨越困難的內在驅動力。
融合意義：燃燒的「動力」，沒有志，容易途中耗竭。</a:t>
            </a:r>
          </a:p>
        </p:txBody>
      </p:sp>
    </p:spTree>
    <p:extLst>
      <p:ext uri="{BB962C8B-B14F-4D97-AF65-F5344CB8AC3E}">
        <p14:creationId xmlns:p14="http://schemas.microsoft.com/office/powerpoint/2010/main" val="3464383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8_S0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9AB9AF5-EF53-3A06-2968-3B776B8822A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A680E06-8745-CB50-8C7D-1B21D1F865D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3CF478-048A-FE9E-970A-BF1C720CEC2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1AEB75-5769-33F6-77AB-56B01436E1F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48D1CB3-9EA5-A562-C28B-3DBABD9892B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掌運卡的核心概念（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805944-9D08-628C-3C95-F1342C60278E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83FB5CF-1BCB-7A42-E220-6E85EF81C21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9912254E-5A78-007F-85F5-366D81F64EC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市面上的牌卡種類繁多，其中最廣為人知的就是塔羅牌。
而這些系統的源頭，其實可以追溯到最初的撲克牌結構。
掌運卡映照課程回歸這份純粹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以提問為起點，帶著專注的心境，選取當下最呼應內心的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1~6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張牌，
連結提問與答案。
這不只是抽牌，而是一次直覺與運勢的對話。
市面上大多數的牌卡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無論塔羅、神諭卡、靈性卡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其實都源自最原始的撲克牌系統。
掌運卡承襲這份起源與精神，保留了最單純、最貼近直覺的抽卡方式：
以雙手承接每一次提問，憑內心的呼喚，選出當下最有感應的牌卡。
這就是掌運卡的精神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運在手中，心之所向。</a:t>
            </a:r>
          </a:p>
        </p:txBody>
      </p:sp>
    </p:spTree>
    <p:extLst>
      <p:ext uri="{BB962C8B-B14F-4D97-AF65-F5344CB8AC3E}">
        <p14:creationId xmlns:p14="http://schemas.microsoft.com/office/powerpoint/2010/main" val="25232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09_S05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B5B1414-E078-5618-0F88-6DB5A181262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B4AF020-AB54-7D48-A29C-692EFCFAE6D6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B0DE09-70EC-E121-E5F9-778801C7369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F9C3EB3-046A-D64E-88FF-0A924BD697F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49975E6-8D83-C512-DAED-9D70E06B280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掌運卡的核心概念（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FAA792-5328-367C-48CE-AB359387C42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D630561-0294-1E81-F2D8-6E6709532E6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7ABA8828-D93C-0086-AEAA-39DBC9E1DDD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準備好了 開始嘍！ ！</a:t>
            </a:r>
          </a:p>
        </p:txBody>
      </p:sp>
    </p:spTree>
    <p:extLst>
      <p:ext uri="{BB962C8B-B14F-4D97-AF65-F5344CB8AC3E}">
        <p14:creationId xmlns:p14="http://schemas.microsoft.com/office/powerpoint/2010/main" val="21675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0_S06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860056-DE5D-8A87-9549-BC1413DB02C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｜進入掌運卡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00F3C80-5676-FB44-C281-B49FA1C4D5C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2026-08-26 </a:t>
            </a: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3ED773-4710-C29D-03AD-29112D1E7024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94BF1E4-DE38-70C5-13EC-38BDF479B29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27AE49-BC0B-5D22-23A0-988DD4FC4F50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張牌的象徵與使用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B32DAA-C95A-958C-28F4-8BD86C8D16A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B43A5E1-DE60-261E-3914-9ECB23DD379B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2CAF4C96-7709-749A-35BA-6A76D6B92CE9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撲克牌很有趣，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張牌常被賦予一年的象徵。
紅色可象徵白天，黑色可象徵夜晚。
掌運卡實際使用 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張牌，不使用 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Joker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5747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1_S07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839364B-9470-224E-925C-22551A224B2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FCA3293-40F5-80E8-B6F2-B1179ED2B5DF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F4902F-118C-3F89-240B-DC4070D2E15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37309CE-D11F-595F-00F5-C5517B8A8C31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76BD3A-6EF1-DD22-981D-76DADE397354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問牌需知（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842868-33B9-7E4A-58CE-9C40CE1F6CF9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94E3EBB-ACDE-6CA5-5E26-A2FA412ABDC4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BFFF6E7-1D02-82E4-11E1-B8BD799E09D8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不疑不問
首先請靜下心來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在心中默念想要問的問題，任何想知道的人、事、時、地、物都可 設定為想問的問題（問問題時人事時地物要明確）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解析問題分析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影響因素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是提問的第一步，所以要先確定人、事、時、地、物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可以自己問問題，也可幫他人問，但一次只能問一個問題，
如果問題涉及人物對象可在心裡默念其姓名並想著對方的形象，則會更加的精準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一事不二問，但可改變問法來問同樣的問題，解牌不是算命不預設立場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居心要正，凡問邪事、投機、賭博等，或心存邪念、妄想者不靈 驗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一誠心誠意 二不重複問 三尊重過程，玩過遊戲的牌要分別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</a:p>
        </p:txBody>
      </p:sp>
    </p:spTree>
    <p:extLst>
      <p:ext uri="{BB962C8B-B14F-4D97-AF65-F5344CB8AC3E}">
        <p14:creationId xmlns:p14="http://schemas.microsoft.com/office/powerpoint/2010/main" val="12910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2_S07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6866D3C-F63F-FB4E-5C16-06DC12C0D29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D760C6-464E-C01F-0B65-A462DA2ED4F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4D4745-6ECC-FA44-7B84-B0C5914B233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F4389C8-0AF4-83B8-C279-F5692B41828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8D49BF-05C5-63F6-9652-822E1A6A4DD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問牌需知（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81D0F5-FAD5-5024-3031-8B578292C5E1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158CE85-34DF-5B2E-45F5-6124256593C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CE5AF5F2-962B-57ED-41A7-DAB72A20832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※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不問生死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不問投機取巧之事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不問生孩子性別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不問他人隱私</a:t>
            </a:r>
          </a:p>
        </p:txBody>
      </p:sp>
    </p:spTree>
    <p:extLst>
      <p:ext uri="{BB962C8B-B14F-4D97-AF65-F5344CB8AC3E}">
        <p14:creationId xmlns:p14="http://schemas.microsoft.com/office/powerpoint/2010/main" val="1704198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3_S08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BF08CF5-F71E-09CC-2BA8-99B93B53936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4EFC125-54BB-2865-E52C-D5A2DE14821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66158F-0697-4D4C-4D8D-E5CEC790B42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ECDFD-0C32-FEDE-204F-F383B9AC5C8E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A82DF4-AE6D-5F9F-6D90-FD41EFBFE05E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問牌的方法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A749DE-A621-FE7C-CA74-FA0E3C6E4EE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CD51F0E-7640-6EF2-7B3E-A50A292FE7D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A8BD393D-1F13-53B2-FDE5-9DE7882E918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第二張牌代表著最後的結果或是該如何解決的方案
問題
心裡想著要問的問題，並一方面洗牌，
並依序每翻一張牌後，需再洗牌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不可說話邊說邊問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
然後再翻牌翻出的第一張牌為前因，
前因有好有壞，若是好的前因則代表目前是樂觀的，壞因則是目前有困難的，
但是要看第二張牌，結論才知最後的結果果報</a:t>
            </a:r>
          </a:p>
        </p:txBody>
      </p:sp>
    </p:spTree>
    <p:extLst>
      <p:ext uri="{BB962C8B-B14F-4D97-AF65-F5344CB8AC3E}">
        <p14:creationId xmlns:p14="http://schemas.microsoft.com/office/powerpoint/2010/main" val="213922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4_S09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FC630C7-7744-09F5-263A-2EB3980D331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CF8F26-16BB-3240-FD80-27146EB7866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2A7AD4-37E7-0BAE-1F55-22AD3ED9C95B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B7273B-4AE6-FC7D-CD9A-6F51FF3B623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0975442-9007-4A0D-355D-563DF06C48CE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張牌卡意義（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07A350-483F-7415-6388-1D3CEC996124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491E66D-E99B-723B-820E-F58C18E11B5F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43D96D-39A3-4860-286C-E643C233D315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來源差異｜三張牌位置有兩套說法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430930B-B9EC-C6E8-AFA3-2CBE6455444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3DA41EC5-982F-6321-CEE1-A7528C562F68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張展現當下的「淺」在能量心境是訊息的翻譯器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張對錯判斷是非問題過去與現在的連結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張牌是心態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健康牌問題完整脈絡
（過去現在未來）（內心外部結果）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張牌是關係走向情感波動親密互動變化（感情愛情婚姻）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張牌是合作關係利益結構事業動力（事業合作資源互動）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能量全圖內外矛盾壓力源和動機身體狀況（磁場牌複雜的議題）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1-6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牌卡意義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OO=O
XX=X
OX=X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103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5_S09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214865D-29FF-CE87-99CF-FB30FF3BA983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9050FE-26A7-34A1-ED82-628AC238A3A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B936D1-8D8B-B2FF-9134-F43B68009D33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AA21A2-5DA0-BBA3-266A-D9CBD4EF972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C13C540-51DA-7F89-C43E-29C4EEA475B2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張牌卡意義（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A4B540-82E5-4271-7F78-C3D638BD0267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08FB917-D535-97FD-FCE2-5BC432716594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00228AF-B819-6A2C-79E4-FB723D9549A8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來源差異｜三張牌位置有兩套說法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1DDDCB2-B9ED-8079-DEC0-CA59F907B1B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024D6E75-3401-19E0-3ABE-8027F5B4C41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XO=O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9918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6_S10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D49BBC5-1D7C-FB6B-0DFE-25A1D249D34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871791E-3DC1-9927-DFC1-73DF6BD751E9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5C9E84-2659-08C8-8EA4-97D85F36A6AE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B6E54AA-E41F-F562-CC82-3BB43A861D3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B60B92-A06A-8AD4-5001-15941D02270E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十三個數字與四種花色（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4163FD-3953-74F4-FEB5-1A2A9F00A8CC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6B09311-C5F8-1BB5-7A01-6FA86EF27C7B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F053FC-7D7A-353F-5E28-393BD99A4886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文字待確認｜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DC10C5C-774F-C5C5-B1C7-A9FB663DD11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05AD273A-D78D-4A5B-D947-93973C25316A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及
其四種花色的含意
撲克牌有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個數字代表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種角色，而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種花色，則可
以解釋成這些角色的個性，一副牌有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種花色
因此若每個問題用兩張牌解釋展的話會有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2652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種機率出現
花色的含義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花色有無限的延展，問題有無限的發展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黑桃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Spade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：男性的、陽剛的、標準的、固執的、專注的、木訥的、霸氣的、率直的 、挑戰的，壓力的
紅心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Heart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：女性的，柔情的、溫暖的、有愛心的、甜蜜的、圓滿的、善良的 、情感、關係、內心需求
紅磚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Diamond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：金錢、事業、權力、挑剔的、強烈的 、有力量的、物質、
財富、實際資源、鑽牛角尖的、精明的</a:t>
            </a:r>
          </a:p>
        </p:txBody>
      </p:sp>
    </p:spTree>
    <p:extLst>
      <p:ext uri="{BB962C8B-B14F-4D97-AF65-F5344CB8AC3E}">
        <p14:creationId xmlns:p14="http://schemas.microsoft.com/office/powerpoint/2010/main" val="4132110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7_S10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4F59C5D-8279-1CE9-2FF7-5705CC36253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｜提問與讀牌基礎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FAA8794-6922-30FF-565E-127785FE83F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C3D33D-66AA-F5E8-C53C-F87D6923C712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0357C3-9461-DD04-B56E-D99A384DB35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DE6FE8C-4139-A523-692F-673240C4F48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十三個數字與四種花色（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DB3656-82F6-40BB-CB85-E68E29386C6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ECAF7D0-26ED-8034-54D7-D520264240E6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B5BB31B-639D-96D2-D52A-8C54290CB25B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文字待確認｜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119CD67-965D-1AD0-A182-DCD6CC11FB7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699B32B3-C444-0EEB-9D54-851DAE00B1A6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 clud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：消極、拖延的、破壞的、不再用心的、比原來狀態差的、晃神的、混亂的、
暴躁、頹喪、挫折
花色是象徵的意義核心
每種花色對應不同層面的重點</a:t>
            </a:r>
          </a:p>
        </p:txBody>
      </p:sp>
    </p:spTree>
    <p:extLst>
      <p:ext uri="{BB962C8B-B14F-4D97-AF65-F5344CB8AC3E}">
        <p14:creationId xmlns:p14="http://schemas.microsoft.com/office/powerpoint/2010/main" val="1581445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8_S11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39D1CE6-78DF-6B86-18B6-1DAEA314A89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｜四種花色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88BC2D-B5DE-1688-8E1A-3AFC48062B99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1490A6-E53F-3160-22E8-0615EEFEAB3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819CF63-1D00-0BA2-14B9-DEF2134A51B1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030BC7-9AB3-11E6-0AC8-E239E5B69B6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黑桃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Spade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4D4A14-8C49-C24F-A705-573799B8C6A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39DA835-DF05-DD3D-CEC0-61C8058A9C3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EF894BA-D2A1-1ADA-6645-B9D51910D9D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不同意義
黑桃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Spade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
男性的、陽剛的、標準的、堅持的、有能量的、堅定、毅力、
勇氣、強而有力、力量、 果斷、固執、很保護自己、堅毅、
自由、創造、勇敢、強壯、巨大、太陽、忠誠、 國王、智者、
樹木、明理、公正、公私分明、個性直爽、很懂的溝通、
明確的、正面陽光的、專注的、木訥的、霸氣的、率直的、
持久的、堅定的穩定的、強壯的、扎實的
給身邊的人一 種嚴肅不易靠近的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</a:t>
            </a:r>
            <a:endParaRPr lang="zh-TW" altLang="en-US" sz="17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416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19_S1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70064DF-2880-1714-F010-26FA5ECA119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｜四種花色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109619F-04D5-634C-98E5-4F56BF78B857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AF4B2B-7CBF-A59B-9D5F-0EE70C4E2EB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EDA36A4-880C-F7D4-45AA-6F2B3A57B58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7DB2F17-9F6B-3AC3-7720-691E18A4D84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紅心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Heart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2E402B-D1CE-6EC4-2B7F-58E4E8A785C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80561E4-34E4-2CEA-D84F-546ED65C70A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920CAACA-1905-4A6C-93B9-804BD68D9C5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女性的，柔情的、溫暖的、有愛的、善良的、柔弱的、細膩、親切、智慧、愛情、 溫柔、有愛心、貼心、懂事、有包容心、容易感動、呵護、可愛的、善解人意、 歡喜的、甜蜜的、旺盛
圓滿的、熱情的、月亮、慵懶、皇后、水、愛、浪漫主義者、很會觀察人、事、物
做事小心翼翼、就算有想法但行動一樣放慢、合群、
悶燒型主義者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
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四種花色所象徵
之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不同意義</a:t>
            </a:r>
          </a:p>
        </p:txBody>
      </p:sp>
    </p:spTree>
    <p:extLst>
      <p:ext uri="{BB962C8B-B14F-4D97-AF65-F5344CB8AC3E}">
        <p14:creationId xmlns:p14="http://schemas.microsoft.com/office/powerpoint/2010/main" val="39548662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0_S1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1126D97-D300-C9D0-E47A-C1707A0BA12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｜四種花色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DF804E9-CB84-9051-5FF2-00613AE3009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C871DF-C777-D7CE-4369-7DD5EF7324D1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AC6936-3311-BB1B-CF4A-504301D509D4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3CA90D-5D55-20A6-2AD8-7145644927A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紅磚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Diamond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824A3E-47F0-3C85-8CE5-6F398DF952F6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5CAC04C-538B-0188-90E8-DCE31462737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1AAE755A-433B-BB86-1A83-710D4E93FC30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金錢、事業、權力的、有力量的、有影響力的、有智慧、強悍、堅硬的、積極、鑽石、 敢做、有方向、目標正確、熱心、慾望、富有、光榮、富足、鑽石、尖銳、火、堅硬、 強勢、小心眼的
挑剔的、鑽牛角尖、精明的、強烈的追根究底的
主動帶動氣氛、樂觀、講話很有力道、
看到問題喜歡給人意見、讓對方知道自己的想法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
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四種花色所象徵
之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不同意義</a:t>
            </a:r>
          </a:p>
        </p:txBody>
      </p:sp>
    </p:spTree>
    <p:extLst>
      <p:ext uri="{BB962C8B-B14F-4D97-AF65-F5344CB8AC3E}">
        <p14:creationId xmlns:p14="http://schemas.microsoft.com/office/powerpoint/2010/main" val="4119310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1_S1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EE7AD4A-D2BB-5B4A-098A-DCCFA6FEEC6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｜四種花色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C37FF8-D83D-A5B3-4BCA-3C73CEDABBA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703EA5-8D41-6537-EE1F-CFDF243A2D8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8847C3F-14D2-820E-9E2C-11B0824C74A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7AA6CB6-801E-6358-E0A6-58F2E5A711A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6C5015-3F7C-00FA-820C-17B6F3A5FFC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09B5AD6-A9AF-C78C-B902-4CA312B57AC8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5F9B948-E14E-B01C-AEA0-59D2AEACE411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文字待確認｜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Cloud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 </a:t>
            </a: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拼法未裁定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7A3FA24-9700-2AB1-DFA3-183BDE4B01C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BD90A487-1D06-E1C8-DD93-AD4587E7F2B8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消極、延遲的、破壞的、不再用心的、比原來狀態差的、懦弱的、無能的、無能為力、 無力感、無情的、傷心的、悲傷、失去、
消失、消耗、失望、灰心、悲觀、氣餒、 壓力、重擔、玻璃心、心煩、無方向、無目標、容易動搖、不專心、無形壓力、頹廢、 散慢、無心、無助、失望、落寞、恐慌慌張的、眼淚、沮喪、
悲傷、多事、煩惱、暴躁、無道德感、混亂、恍神、失當
無所不用其極、用手段以達目的意思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四種花色所象徵
之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不同意義</a:t>
            </a:r>
          </a:p>
        </p:txBody>
      </p:sp>
    </p:spTree>
    <p:extLst>
      <p:ext uri="{BB962C8B-B14F-4D97-AF65-F5344CB8AC3E}">
        <p14:creationId xmlns:p14="http://schemas.microsoft.com/office/powerpoint/2010/main" val="1039091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2_S1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4CB8A73-2D37-D390-AA4F-A4DBEF88271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99115DD-CCC9-D37D-193F-8F59E8E8E517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A0E46D-33EF-1C25-3428-9D2B30F3374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83C0A0-5DC8-788E-AA39-30EA803D036E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EEFB6E5-249B-EDF2-8003-28BE3DC207F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｜探索自我之路（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42652A-96CC-C3F8-358F-61226596E2B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FF75A85-15C2-3A60-AF8C-92F2FB149A8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D78A3D65-EB75-829F-0611-9F77E63CDB51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很久很久以前，有個小王子踏上一段探索內心與命運的旅程。
他知道，這世界很大，真正的方向得靠自己找。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他先全心全意地朝目標出發，不讓一絲懷疑干擾自己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但路上出現了鬼惑，讓他陷入誘惑與迷惘，
他開始懷疑自己的選擇是否正確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在掙扎迷惑之中最後戰勝也產生了自覺，重新定位內心的聲音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此時風沙漫天而來，順勢而行，接受變動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他逐漸找回內在信念，如同磐石般堅定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面前出現一道難題，他憑藉智慧解開難解之結，才得以繼續前行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一場風雨後，他終於看見天空出現美麗的彩虹，
明白每段經歷都有其美好</a:t>
            </a:r>
          </a:p>
        </p:txBody>
      </p:sp>
    </p:spTree>
    <p:extLst>
      <p:ext uri="{BB962C8B-B14F-4D97-AF65-F5344CB8AC3E}">
        <p14:creationId xmlns:p14="http://schemas.microsoft.com/office/powerpoint/2010/main" val="3663532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3_S15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5F030A-337E-FCAE-B164-C324BE852B3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3E3BF7-EDB2-E33D-4751-1A9965ADA2FF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F07241-20D2-0597-31AA-D026C4919D9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37BE065-B516-BED2-6BBB-B6E52C6972D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0685D1A-0493-8AF5-106A-0CE290C1D864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｜探索自我之路（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05A548-5D60-4845-BC74-AE49B0F0F63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13F2690-F16D-2128-B99B-31EF8FA6AAD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D7AC6C6D-2364-BCA6-165C-5FA00D828D3A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他站在山頂，看著夜空的滿月，體悟內外圓滿的平衡之道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要繼續往前，他必須利斧般果斷，學會割捨與抉擇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他終於理解，真正的財富之神不在黃金珠寶，而是在內心的富足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戰士當危機來臨，他化身刀戰士，勇敢行動、果斷決策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皇后媽媽在智慧與慈悲中，她引領導小王子走向更寬廣的道路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國王
它是每個人的內在旅程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——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當我們從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走到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，其實就是從迷惘走向清明，從依賴走向自主，從探索走向掌握</a:t>
            </a:r>
          </a:p>
        </p:txBody>
      </p:sp>
    </p:spTree>
    <p:extLst>
      <p:ext uri="{BB962C8B-B14F-4D97-AF65-F5344CB8AC3E}">
        <p14:creationId xmlns:p14="http://schemas.microsoft.com/office/powerpoint/2010/main" val="582567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4_S16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3E6E4FD-ED05-557C-5BBD-5C5C8109110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6334C6-18F6-C0F1-4CA7-EBA5CB3B64F6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71F075-4E39-076E-0519-775D4713191B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5E26EB-4EE2-F3A9-6520-DD399297BFA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A5783E-5C3A-894A-8248-7BC798E41A42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｜探索自省之路（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373CB3-0F7D-3479-145B-3DFD1A2014B9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CDCB763-37CB-127B-E691-9D991221146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0947131-638A-41B5-40BB-B04DC01A554F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A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全心全意 ➜ 我想做我渴望擁有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2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鬼惑 ➜ 我卡住了，內心有阻礙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3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自覺 ➜ 我開始看見問題，理性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感性兩面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4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風之塵 ➜ 我想快樂自在
中段階段：拉扯與學習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5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磐石 ➜ 我會穩定，開始穩下來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6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難解之結 ➜ 我遇到死結，需要學會放下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7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美麗的彩虹 ➜ 我美好的期待，有夢，但尚未實現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8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滿月 ➜ 我成熟可實現，事事圓滿
轉化階段：行動與清理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9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利斧 ➜ 我要具備能力，學習操作我的力量</a:t>
            </a:r>
          </a:p>
        </p:txBody>
      </p:sp>
    </p:spTree>
    <p:extLst>
      <p:ext uri="{BB962C8B-B14F-4D97-AF65-F5344CB8AC3E}">
        <p14:creationId xmlns:p14="http://schemas.microsoft.com/office/powerpoint/2010/main" val="7744202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5_S16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E3E153B-9EE0-5B8D-D038-7FC44856B62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335C170-ABBE-77E4-B698-E875EEB9841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801621-4232-0160-6B4A-87C5C01FB014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9B38A3C-DA5A-F49D-AAE4-6BE9310EBF0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113C85D-2AB8-7392-2A3E-0B9CAEE7C89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｜探索自省之路（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B6DE32-2B77-0452-C773-311C953A4C2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4123976-CFD0-A981-A8A6-5F4843C98A5A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C62B710-5D73-EC61-FA2A-4EF5A8CB681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10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財富之神 ➜ 我不在乎外在的眼光我找到自己的價值自得其樂擁有榮華
領導階段：力量與成全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J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精銳戰士 ➜ 我才華洋溢衝在前面，有技能可執行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Q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 ➜ 我是自信強大的氣場自己做決定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K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國王 ➜ 我是霸氣外露，是被信任的力量核心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探索自省之路</a:t>
            </a:r>
          </a:p>
        </p:txBody>
      </p:sp>
    </p:spTree>
    <p:extLst>
      <p:ext uri="{BB962C8B-B14F-4D97-AF65-F5344CB8AC3E}">
        <p14:creationId xmlns:p14="http://schemas.microsoft.com/office/powerpoint/2010/main" val="644661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6_S17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46F2652-0B86-A321-C508-9408C700F5A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0A3D3F-2438-8FAA-130D-149CB8565139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BECE3C-F4B7-4171-0F87-F646AC0DF8BE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56716B-A3DF-B908-5EBC-E305E608DEDD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2267B14-54F3-34CC-BA5D-859656DA3B2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｜全心全意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6009D1-53C8-7A05-259A-9B99732E82B5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AF571D8-0C68-AB88-F7D0-2240925E892D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758BE0FF-D355-6EB7-70B2-0F84A42D9F00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對任何所要的都能全心全意的付出、
投入、努力、堅持、以及超級渴望擁有
亦有專注固執刻意為之的意識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不容改變的心態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就會變得比較消極、猶豫不決、不堅定、無力感、拖延、退卻、
精氣神減弱氣虛
感情：說明沒那麼的愛了、變心了
雙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若任一黑梅在後都是負向的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全心全意</a:t>
            </a:r>
          </a:p>
        </p:txBody>
      </p:sp>
    </p:spTree>
    <p:extLst>
      <p:ext uri="{BB962C8B-B14F-4D97-AF65-F5344CB8AC3E}">
        <p14:creationId xmlns:p14="http://schemas.microsoft.com/office/powerpoint/2010/main" val="1501264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7_S18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38F5996-3ED7-56B6-51CF-42EE6BB93DF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C4D598-E32A-B45D-475B-8377952937B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40419C-0C3F-88CA-AF6E-3E61206959CD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AF5567-5494-4412-AEA1-56D6F55DCAB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123FBC-23A2-37AE-BE89-396EB155B7E2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｜鬼惑（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96C578-C942-6E20-9089-4AF2034B099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672D4E9-A8CD-6461-E935-F5510A3A9719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434C909E-3441-C63D-C61E-B46C174FEB8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也許人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職場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也可以解釋是自己心裡有鬼、自我障礙自我矛盾、心神不寧
也可以解釋為磁場被干擾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不那麼好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焦慮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都屬於善意的關心、
不肯定的意思或是質疑
不管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都不屬於好牌、
都為不肯定的意思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就是真正要對你不利的小人、
職場上的不合、感情的第三者或是官司、磁場混亂或破壞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情緒的混亂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2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鬼惑</a:t>
            </a:r>
          </a:p>
        </p:txBody>
      </p:sp>
    </p:spTree>
    <p:extLst>
      <p:ext uri="{BB962C8B-B14F-4D97-AF65-F5344CB8AC3E}">
        <p14:creationId xmlns:p14="http://schemas.microsoft.com/office/powerpoint/2010/main" val="8264785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8_S18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2E94426-845D-EAC4-D9AA-5A232A09D26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86D308-FA09-0D11-702B-D44F0259235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0F2C59-4D75-B692-E7D2-0FD5A54616F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9A2BFE6-2A59-0E2D-3C34-BE25C9D5224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9ACE428-DD64-C4C9-88DD-E9C2577EB07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｜鬼惑（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C41314-0480-32B6-9E64-A8F6649254A6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F85DD07-5701-D04B-4C6C-A9F22449BB6F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CDE70C1-ABE0-34E6-EFEE-4E0DCBF331E6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男生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女生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物質金錢
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都要注意都是不確定牌沒有肯定值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(23467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任意花色或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8C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是不確定牌開高高低低有好和不好的意味或即將走下坡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有外在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有內在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人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8339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29_S19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543392A-C6AC-625C-F71F-C647E1ABF11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B49FC76-D91E-DDEB-9365-BB7A506541D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2C561B-7B64-0619-D8DD-8CE7958FF1B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5646F5-2811-2225-98FF-33A232BA03D9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E7F1BE3-B5F0-06E3-C4AF-8AE52940262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｜雙鬼合（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93A1C1-F7EA-0576-3A2D-FEE870828C4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AB0C200-AA7C-C9B6-1CA9-8BE957FE570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C40AF912-F16A-D8BA-E1F8-DE75A25C7F4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出現，只要黑梅不是出現在後，
這組牌稱之為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雙鬼合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，能逢凶化吉，
在是否達成某目標問題中代表獲得強大助力，
所以事情將會有好轉的趨勢，
不過畢竟出現了兩張鬼惑，過程中難免紛爭不斷，挫折綿綿，所以執行中務必如履薄冰，步步為營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雖然能獲得強大助力、須謹慎小心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如果黑梅出現在後，就表示事情的發展毫無轉圜之地，
有雪上加霜，難上加難的意思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黑梅第一張才是好牌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張都沒有黑梅都逢兇化吉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二黑梅在後無解雪上加霜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特殊牌卡
逢凶化吉</a:t>
            </a:r>
          </a:p>
        </p:txBody>
      </p:sp>
    </p:spTree>
    <p:extLst>
      <p:ext uri="{BB962C8B-B14F-4D97-AF65-F5344CB8AC3E}">
        <p14:creationId xmlns:p14="http://schemas.microsoft.com/office/powerpoint/2010/main" val="1612580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0_S19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82D460A-D49E-C9AF-1E07-59C56C7A122C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CA1E10-247A-6381-01D3-1F3E1D5BA40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6AA3AF-7363-6898-A060-9FBE00511963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20BB7B-A584-0F0F-7984-440167C2F54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9C1A71E-BF7B-D64C-A1C2-2B5ACF14859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｜雙鬼合（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BFDF16-C29A-1C68-C97B-2609770701B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3F2672E-8DE0-370D-75EE-DE18694D66E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B8410BEB-BFC4-A09C-52BE-A679ADD2FD9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雪上加霜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(1)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逢凶化吉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(2)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小心謹慎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(3)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雪上加霜</a:t>
            </a:r>
          </a:p>
        </p:txBody>
      </p:sp>
    </p:spTree>
    <p:extLst>
      <p:ext uri="{BB962C8B-B14F-4D97-AF65-F5344CB8AC3E}">
        <p14:creationId xmlns:p14="http://schemas.microsoft.com/office/powerpoint/2010/main" val="274463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1_S20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1F31D44-A16B-0C0B-BFF0-E5512177776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F93F4E2-3747-8781-6471-B04C0ADF43B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C30D05-7B36-6DB5-25B3-51146EB50D2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38DFA1D-FEBF-1300-BF1B-C587616409A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018972-041C-8E68-50FE-787DD6F4990B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｜自覺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E18E5E-80CA-B131-6014-2BFCE555D91A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E7627F-74E0-BBC8-7FBE-D165AD84594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E1B0C83-356C-0E8E-193B-ED6A44C3CB2D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高風險原文｜涉及性傾向與隱私推論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ECDA71A-5525-344B-6D26-674861D4524B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AEDFCF9F-401F-FCB5-526A-56AFFF251DFF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則是代表想法極度不成熟或是毫無計劃、或是變化無常可言、早晚想的不一樣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早晚想的不一樣思緒衰弱或毫無想法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沒有任何想法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解牌有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的出現、理解度還要更寬一點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若問是否為同性戀，出現雙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，不論花色，則結論是非常有可能的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自覺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理性在事業主企劃強、頭腦清晰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精於規劃的、聰明的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2 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感性在心裡情感上則有單相思、想太多、自私、固執不變、一廂情願、自我矛盾的問題癡心妄想及個人單方面的想法、
心態面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內心面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情感面</a:t>
            </a:r>
          </a:p>
        </p:txBody>
      </p:sp>
    </p:spTree>
    <p:extLst>
      <p:ext uri="{BB962C8B-B14F-4D97-AF65-F5344CB8AC3E}">
        <p14:creationId xmlns:p14="http://schemas.microsoft.com/office/powerpoint/2010/main" val="2789516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2_S21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891C3C3-0679-C530-8A7C-D284212E8146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E58B382-DFD7-65DA-5FCC-A889FC8689E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345E2F-E843-EEB8-A7AD-7F41F9780010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02D3BF-9C40-8946-11DC-5FB82906092A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CC31668-960F-AF05-12A2-A241DC1033B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19ED5B-94D4-93EE-E323-49B13FA9206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77D8C06-3202-7A1E-C4AB-30CCE9F5653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0330A220-9DA3-BF82-2933-56247229E4D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理性加感性
兩個想法兩個內在（兩個人）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會有兩個個解釋
理性是懂規劃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IQ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部分
感性是一廂情願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EQ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部分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JJ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感情有雙的意思或姻緣二度
合作有紛爭的意思
特殊牌卡</a:t>
            </a:r>
          </a:p>
        </p:txBody>
      </p:sp>
    </p:spTree>
    <p:extLst>
      <p:ext uri="{BB962C8B-B14F-4D97-AF65-F5344CB8AC3E}">
        <p14:creationId xmlns:p14="http://schemas.microsoft.com/office/powerpoint/2010/main" val="1906720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3_S2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B1866CA-5530-2C6D-E121-487360A6DA1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69CF473-1A2D-FFB4-67DF-390CF315826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1AC048-37C9-58C8-C7D1-59BFAFE8FDA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855052-CE04-3BDD-7D94-CE206BB0ED2A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72BC4F3-2B69-92C9-88DC-9BF5913E1A6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｜風之塵（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0CC7CB-7FFB-502F-8064-BF606C32F39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3EB1D4C-3A6C-4D6F-FA7C-D81EE6A87F0F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50E4B524-FBE2-97C8-71D0-EFA8E8C5012F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但也有著飄盪困惑不穩的
鬆散擔憂的因素，
雖然有一些小狀況，也不會產生太大的影響，
有分離、遠行、離職、異動、
精神不安寧等徵兆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(SHD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都還算正向思維、偏正向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就變成混亂、沒有頭緒、
狂風暴雨、 腦神經衰弱、
事情變得更壞更複雜、
更難以控制處理磁場亂象頻生、群魔紛飛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5037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4_S22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8488FC8-8014-EDC1-0EA5-95BFE43146E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22C6564-E74B-58B6-7433-30EFE8CD7A7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8E3162-3BA9-BBCD-E289-92372629CC90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55B0B2-52DA-293F-CC54-D62C7B62669F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2EBAD21-17F3-D7BD-A2D2-4B3645C9094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｜風之塵（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7C3AD7-2260-233A-F972-ACA264E48928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48370D5-0A6F-CEC4-F302-323861F0AD9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BB8D25BC-4B66-0B95-42F0-624B33931F1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風之塵
氣場牌</a:t>
            </a:r>
          </a:p>
        </p:txBody>
      </p:sp>
    </p:spTree>
    <p:extLst>
      <p:ext uri="{BB962C8B-B14F-4D97-AF65-F5344CB8AC3E}">
        <p14:creationId xmlns:p14="http://schemas.microsoft.com/office/powerpoint/2010/main" val="1795643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5_S2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15F1ED-2D51-A8E6-B4B4-BB8633BBFFAC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781EB2F-1ADF-5215-2473-7837923E792A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49C23-7629-36A6-44C3-2F473FE6E63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A6A169C-07A9-2517-F1F5-13F608C23F2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04CFFF-7B3B-3372-496B-E7C1E58E5556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｜雙風疊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9D3DD6-6545-895D-CB5F-0867DCE2D367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35E3734-2D50-E0E2-A867-DAE0DDAC60E9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5D3B98C5-034D-AB56-593F-961E26D1F3E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4 4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，只要黑梅 不是出現在後，
則稱為 “雙風疊”，
意味著塵埃落定，
在是否能達成某目標的問題中，代表事情將會雨過天晴，
將有明朗的發展
若黑梅 在後，將會形成狂風驟雨，超級不妙
特殊牌卡
雨過天晴
狂風暴雨</a:t>
            </a:r>
          </a:p>
        </p:txBody>
      </p:sp>
    </p:spTree>
    <p:extLst>
      <p:ext uri="{BB962C8B-B14F-4D97-AF65-F5344CB8AC3E}">
        <p14:creationId xmlns:p14="http://schemas.microsoft.com/office/powerpoint/2010/main" val="4126748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6_S2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C90BDDD-1C79-817F-4B0E-8B6D15BA4CA3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A156302-7187-80E2-D72E-8D51F4DC171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9B958-AE75-961F-5778-4E4FAE01A877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04E6B2-7657-65CA-AFCC-2B3E9773ED2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32E21A-BA2A-0EEC-B236-6CAA4EAF51CB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｜磐石（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8238D0-E487-5987-901A-C26AE86EF2B0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3339DA3-C1AD-6CC9-E787-F7954F519B8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6757CB42-90E4-19BF-20FE-A88D59CD042C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也代表身體健康平安順心幸福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則代表破損的、崩壞的、
或是基礎尚待建立，
沒計畫好還沒想完善、
也可解釋為基礎已遭受到破壞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建立好被破壞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對事都尚未基礎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問健康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身體的健康狀況則是欠佳的
問姻緣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婚姻有離異現象、破滅現象 有分開的隔閡
問事業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有拆夥崩牌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
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心靈心理要穩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4446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7_S24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AABCE74-6C45-3B99-F81B-BC045932DE6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C9FF87-CDC0-B6A2-AE0F-280F16015C2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DFD527-05C5-E829-6428-FCBA1393D05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A4FB7BE-BC9E-25E4-FB66-63AC9F76EDF7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89AA21F-CEA5-0612-1B65-0477FCFADF9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｜磐石（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794A02-217D-F095-0DDD-908E21AE8AC5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350633-56A4-FDDF-40B8-D1D573FA6D6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901EFE7-C56D-3934-56D3-3ACF733A1010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磐石
如果黑梅出現在後，這些組合無論任何事情，有開高走低的意味，
在好或不好的問題中，意味都偏向於局勢即將走下坡</a:t>
            </a:r>
          </a:p>
        </p:txBody>
      </p:sp>
    </p:spTree>
    <p:extLst>
      <p:ext uri="{BB962C8B-B14F-4D97-AF65-F5344CB8AC3E}">
        <p14:creationId xmlns:p14="http://schemas.microsoft.com/office/powerpoint/2010/main" val="722111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8_S2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DF1D82A-57A7-FFC9-3201-D87938ED619D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B52B7A4-3B0A-2144-50BC-D6EB7A38B39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86BE76-CC47-D02A-3675-E4BCB47A6981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00B8888-20CD-9CA5-8CFE-10C9DC69D923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C1D54B8-1BCA-BC8D-CE35-A5D9C12E5B0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｜難解之結（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18BB2E-C996-ECF7-E6CD-848831CB4FFA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37FE8C8-9A52-EAB5-6AAD-E25E89ACC79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1BD5F17-2FC5-C979-0779-CC9E368ACC2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代表困難重重或心生無助、有未知的阻礙出現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也可說內心有阻礙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但也有絕境逢生、柳暗花明又一村的意思 黑桃、紅磚、紅心都還算是可以處理的問題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稱為麻煩的無解的死結，
表示問題很難處理或毫無轉圜餘地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要助個案後續找出破解之道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如果第一張是黑梅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，第二張出現其他花色的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，代表大吉大利順利過關，
反之，則是超級不妙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難解之結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(6C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等於不好牌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大吉大利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(46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64 NO GOOD)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7633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39_S25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56A9D10-8906-3538-6004-66B3B50521BF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0E6F5D-493B-DAA9-AF14-A3AF441C8D4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0D82D3-46F7-C7D7-1518-7B50B08DC7EB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48DAAD-6A88-B35B-F440-4B7A4380B767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343D4E-E7F4-1E61-0684-91D8177606B6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｜難解之結（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641D0-D9F0-98A9-CF1B-D074023006CA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1976F34-21AE-5C77-9581-0D95C0F7F81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FFF449D6-D38A-1694-711A-02BF68A54AF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6/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都要注意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89320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0_S26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17F5C03-B066-D17E-CF41-7BFB5F8C5D4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BB4EA85-869B-5775-5DA0-BF9367B01F9C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66F690-5797-658F-0538-B153BD42D154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1C6EAB3-FEE5-7132-5476-A5ECD6A0D2B7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EE85D3-1072-616F-C391-CB12A8BB0E3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｜大吉大利／無解死結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7678C1-2E16-FCC9-9F70-C715BFA9AF46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FA3C8C8-2EAB-7C3D-080F-F31385DBDE0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252D97AC-E0EE-CCE4-0872-AE1332FDAFDC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不論問題，此為大吉大利之卦
若黑梅在後，將變成無解的死結，非常的不妙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都黑梅在後都不妙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特殊牌卡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大吉大利
無解不妙</a:t>
            </a:r>
          </a:p>
        </p:txBody>
      </p:sp>
    </p:spTree>
    <p:extLst>
      <p:ext uri="{BB962C8B-B14F-4D97-AF65-F5344CB8AC3E}">
        <p14:creationId xmlns:p14="http://schemas.microsoft.com/office/powerpoint/2010/main" val="27624689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1_S27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8D0F256-758F-F9F1-236A-E89E164ED5C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BF585C6-BBA6-DC82-CFD5-42223F3129CA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FF38DE-9D41-59DA-E01B-FFF4A025C1A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772E034-C6C9-5CE3-3AB9-0445990B7BF4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3A69797-DA2D-3DF8-1AA3-0127E242536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｜美麗的彩虹（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738425-F5B9-2C06-37AB-EEC59E5A6E6E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BF63CAA-25C4-DC24-F56C-2F898169AD50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FF3FAF-8B2B-89F3-B568-91D0A3A97BE1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高風險原文｜涉及身體狀況推論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4C1425-57B9-39E0-30A4-3137C0101AC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D0E3C207-02DA-E2D3-E634-020246DD194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對於所問之事充滿美好的期待、
代表未來的希望與願景，
但還是屬於尚未實現、所以較為虛幻的。
也有遠方的味道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跟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有點像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可以解釋有遠行、離開、出國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代表虛幻的、散掉的、破滅的
或是在黑暗中有一道曙光
懷疑的不相信的
如問有關身體，出現兩張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
稍有點狀況請個案小心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(77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會卡到別人的因果傷自己的身體不會保護自己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02325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2_S27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D6894BD-1DBE-3389-8B3A-CC284094CBBC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1385ECB-56B0-36D1-A978-390786BA394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A1AC28-35C7-356F-BFCE-B1C6E343B79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D1A922-C533-8C4B-8632-41243329060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AA46291-F6D1-87C2-6314-9A00FA4BDFA4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｜美麗的彩虹（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6EEDA5-5DCB-062C-8980-B45F24C3B6C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D81707E-CA30-6459-C9BE-A77856A76DC7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5CCE7A-E9D4-F027-5ADC-370C7511E1D2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高風險原文｜涉及身體狀況推論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2DB85DE-1340-5B13-F2FE-B1528B2CE49A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C2F26411-A8A2-7A18-C6BC-AE1340F41A6C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不論花色，代表 不妙，要小心，
若其中有一張是黑梅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不管前後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
要有心理準備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中度嚴重加入一黑梅更嚴重要看日子了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7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美麗的彩虹
氣場牌</a:t>
            </a:r>
          </a:p>
        </p:txBody>
      </p:sp>
    </p:spTree>
    <p:extLst>
      <p:ext uri="{BB962C8B-B14F-4D97-AF65-F5344CB8AC3E}">
        <p14:creationId xmlns:p14="http://schemas.microsoft.com/office/powerpoint/2010/main" val="2739567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3_S28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61472C-D36A-A7CE-415A-4EE6A46009CA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BEBB24B-62C5-2D07-46D6-5780D808633C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EFFDED-6F70-4027-7310-5EB31DD63A9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00E571-7CFB-4C4D-A71C-F72E2E915D9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0E6082E-7DEC-D8DE-E753-00E581C8E24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｜身體問題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369866-B21D-E828-CCFA-32478E4BC44E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74F40A8-04A6-9C3C-FA6F-82800F1F2128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5F0475-7F94-E898-AE69-FCE490839154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高風險原文｜涉及健康與生死措辭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C2BA527-0DC8-1934-2CC7-F745C184175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6A9E2D9F-8E98-24FB-3FB3-3C7B2A97728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代表要極度小心，是非常不妙的組合，
假使再翻一張牌（身體健康可翻三張牌），
又出現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，則代表情況嚴重，
所謂神仙難救無命客，
出現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，也是非常不妙
特殊牌卡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7 7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
極度小心</a:t>
            </a:r>
          </a:p>
        </p:txBody>
      </p:sp>
    </p:spTree>
    <p:extLst>
      <p:ext uri="{BB962C8B-B14F-4D97-AF65-F5344CB8AC3E}">
        <p14:creationId xmlns:p14="http://schemas.microsoft.com/office/powerpoint/2010/main" val="3963595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4_S29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806E869-C621-A74F-D96A-04F1A83DF436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849625A-8400-793C-797C-4FE35119A3C0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A75D64-843D-F2DC-A99B-BFD1F37904F3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5B801C8-8442-9C82-6D7D-0B0C323FAF4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17EE1F-8CF2-6C0E-4176-F3CA56B6BB5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｜滿月（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AC5972-0B16-F725-B28B-313A882ED7FC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43757AF-8274-375C-EFED-3F01854D59A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DBFCF373-BAE4-2691-9BD0-17965B8368C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要暫時放掉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是明亮被烏雲擋住的明月，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時間點延後的意思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看似有點困難，但只是暫時的，
拖延的，虛弱的，比較差的月有陰晴圓缺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時好時壞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 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模稜兩可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對愛情事業健康而言，有時好時壞的現象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(8C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是被烏雲擋住的月亮是不確定牌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不是不好牌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8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滿月
在宇宙是能量體光芒是有能量的是圓滿的是無形天地</a:t>
            </a:r>
          </a:p>
        </p:txBody>
      </p:sp>
    </p:spTree>
    <p:extLst>
      <p:ext uri="{BB962C8B-B14F-4D97-AF65-F5344CB8AC3E}">
        <p14:creationId xmlns:p14="http://schemas.microsoft.com/office/powerpoint/2010/main" val="11411512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5_S29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E44B3C1-4EE2-2B89-3E07-DD005C028DC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460B52-6B28-190E-228C-B396DB2F6107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510350-3C45-8F38-D428-74FE17C2237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CA81DDA-817C-1DA2-010A-AB20DCBE9FD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77FB578-5178-9F16-E9A5-858D6095D27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｜滿月（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A8CC44-2C87-7D88-D215-7EB5AEC81065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574F11C-478D-0BF4-614F-919AF6BEE91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9D502645-8BAB-6AB8-2CBA-EC44CD680C19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88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（有雙的意思：好或不好 開高走低 局勢下坡）
職業要考慮進來有沒有因果業力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8+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任何花色都要迴向</a:t>
            </a:r>
          </a:p>
        </p:txBody>
      </p:sp>
    </p:spTree>
    <p:extLst>
      <p:ext uri="{BB962C8B-B14F-4D97-AF65-F5344CB8AC3E}">
        <p14:creationId xmlns:p14="http://schemas.microsoft.com/office/powerpoint/2010/main" val="1352754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6_S30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22A088C-1AB7-19DF-5F98-C9D286A4BC4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F47EE57-01CD-E730-9560-0D1C944A92F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C90896-091A-5151-80C5-3B246F8BBD3E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8B6739B-0315-D322-CFE0-7F52AF079FA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33D9A3-E62C-A1E2-3E27-0BD7A29D30A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｜利斧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39FEAD-2CB7-3E38-8370-4C0E1B42584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B69173B-6071-2373-DB6A-B1C146ABC54C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FD78412-4401-8EB7-25B7-AA08BED12B1B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高風險原文｜涉及抽血與健康處置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10FBB8A-BD58-AD13-66FD-A3DAF2C347A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AB7A6D32-4BDB-033C-D407-0D3389F7082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找方法找合作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1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問健康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主血光、刀關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如建議去做深層健康檢查，抽血可破血光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問感情及合作事業關係主爭吵、分手之兆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建議有拜拜有信仰的去找主神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是破壞的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表示開過小刀的可能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惡劣的、辛苦的、嚴重的、爭鬥的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
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利斧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9C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問身體健康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80%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有小手術或內心有過重的創傷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心理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7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6385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7_S31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C7957D7-328A-E81B-ED8C-4BD49194E05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317529-C420-F94C-4515-880EE890DBC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A17B97-2BC0-96F9-EA2D-BFAC63B9D96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795C0E3-1D14-4ABD-FA5B-CDE11F21541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002984-7398-A310-00DC-BAFB74FA174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｜財富之神（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644728-5BBC-4101-D053-98A7C2355F7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7D276F1-1C19-C6C9-659B-5BB51499BCF1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B3B6AD6-0D09-1A93-4B48-314D14938311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3E90138-3AE0-5052-605A-0D633D6A8F9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D3306B49-A8DA-7FFC-090F-861C23D93A2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代表理想、理念、富貴的、
不在乎外界眼光、 自得其樂、
擁有榮華富貴、貴人相助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則是懦弱虛弱、有麻煩的、
無力的、財務危機、
不再自得其樂思緒混亂的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財富之神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 在身體健康問題中出現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
如果問題為愛情之類，則有“雙”的意思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1138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8_S31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9BD7E85-C388-7B19-BBB6-B7563462E3E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5F4CD4F-7B47-9A0B-A77C-DBE255648566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653000-7208-44B1-B010-631A5ADC896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A349FF-7ECA-B4E6-1CC8-D912C97AF64C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AD8E96-E908-E359-7A82-3BDBE6E816A0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｜財富之神（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2AEB39-215B-99DC-CB62-2C3C6785BEA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B07AC8E-23C4-3556-7604-DB37B1CC794D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F6586E0-FF8D-2EF0-5FC0-22F9BE7245A7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510460B-1723-7BD4-3EF3-FA5B607A3C6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12AF9AA4-6CB1-1E0D-A5A0-6BC69FBAD1B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不論花色，在任何有關合作的問題中，代表因意見相斥而造成紛爭不斷
問題中除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3C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不論花色都是好牌
、</a:t>
            </a:r>
          </a:p>
        </p:txBody>
      </p:sp>
    </p:spTree>
    <p:extLst>
      <p:ext uri="{BB962C8B-B14F-4D97-AF65-F5344CB8AC3E}">
        <p14:creationId xmlns:p14="http://schemas.microsoft.com/office/powerpoint/2010/main" val="1077967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49_S3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60A45D8-821F-78F9-DFC9-343BA1DF4C4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75BE0C-2897-5DE0-119D-F685C73623B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FE467B-6CC4-72A4-58BC-958EC57144F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C852BF-EEF9-C404-912F-9E7C07B28AD1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DE9575-982D-C4DB-87E0-B6812FB137E1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｜精銳戰士（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28D1B8-23C9-7341-9889-7823B3D598BC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21577E6-C632-AAE3-6D2A-BC1B6161C734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E5C3CB-E1CD-2173-69D3-DFAD473AD7C2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高風險原文｜涉及抽血、血光與健康處置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7C3C81-ECFC-C8D0-C648-FA69638DE12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9CABC9D4-DD36-5FFB-E56A-3510EB9D16C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代表才華橫溢、有技能的人、是可當輔臣的人、也是好伴侶好搭檔會衝鋒陷陣，也有執行的意思
問健康主血光、刀關，
建議去做深層健康檢查抽血可破血光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相似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:9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小刀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大刀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是不忠實、感情也會有分手之意
背叛的 有麻煩的、惡劣的、
無所不用其極的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(JC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是曾經身體有開過大刀的人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不論花色除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都是好牌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J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精銳戰士</a:t>
            </a:r>
          </a:p>
        </p:txBody>
      </p:sp>
    </p:spTree>
    <p:extLst>
      <p:ext uri="{BB962C8B-B14F-4D97-AF65-F5344CB8AC3E}">
        <p14:creationId xmlns:p14="http://schemas.microsoft.com/office/powerpoint/2010/main" val="1627149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0_S32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3315EDE-4216-521A-2EA6-5E65B7999EFD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155CB55-E606-1951-212E-C52F13628B83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1291BB-4E95-C1D3-6DA1-04E52D55C5B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F8C808F-2D5D-0B37-2F28-FD9CDCE18A3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B39D767-373A-8368-AB1F-21BDADFE0AF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｜精銳戰士（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450503-58C9-3605-3C90-CD80051CEC50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ECFA183-354A-BEBB-6360-E2A346CE800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7183B29-C610-6F07-649C-3742F9E9DB9D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高風險原文｜涉及抽血、血光與健康處置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54FA540-9BFE-3833-18DC-5FD51CE6DF8A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5CA9FD7C-AB50-EF70-6D91-4F001D2DD647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刀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人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JJ
1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 在身體健康問題中出現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如果問題為愛情之類，則有“雙”的意思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JJ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在任何有關合作的問題中，代表因意見相斥而造成紛爭不斷</a:t>
            </a:r>
          </a:p>
        </p:txBody>
      </p:sp>
    </p:spTree>
    <p:extLst>
      <p:ext uri="{BB962C8B-B14F-4D97-AF65-F5344CB8AC3E}">
        <p14:creationId xmlns:p14="http://schemas.microsoft.com/office/powerpoint/2010/main" val="154653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1_S3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B23A421-881D-89F7-3C44-92EB5322AA1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A26DABA-609C-D993-05F7-C967D1D3BCE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35F717-1C47-E2BA-DAF3-3A9FEB62F8F1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AAE3D0-9F03-0CB1-2541-F993881EA4B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6B8EFD-6544-CDBA-A627-A5E00524DAA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｜皇后（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71D56B-0DB8-FF3B-01A8-FA9C8D2A100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2A1ED78-EFD5-C7EC-453C-CCE07CE0CF49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A076B3-62B4-D3BF-DFC6-57671795C49C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46D3DE1-AC47-5311-F5DC-FAEFED9DA68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BAC63620-32CA-CE3F-B61E-20A24D94CC0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不管任何問題黑梅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是無所不用其極、義無反顧置之死地而後生之意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是最強而有力、
正邪或好壞一線之隔，做決定都是兩極的、所以有了它的出現很多困難都可能迎刃而解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用在好即好用在人邪惡的一面與信念有關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
特殊牌卡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QQ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 在身體健康問題中出現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
如果問題為愛情之類，則有“雙”的意思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QQ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不論花色，在任何有關合作的問題中，代表因意見相斥而造成紛爭不斷</a:t>
            </a:r>
          </a:p>
        </p:txBody>
      </p:sp>
    </p:spTree>
    <p:extLst>
      <p:ext uri="{BB962C8B-B14F-4D97-AF65-F5344CB8AC3E}">
        <p14:creationId xmlns:p14="http://schemas.microsoft.com/office/powerpoint/2010/main" val="35208250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2_S33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D0D9714-A84A-C906-A8F6-0360361226FC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51CAD6-1601-BF3D-839D-BB7127E0DC7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829296-9124-1720-8F3A-D4BD19A5DCD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31604D-7017-B282-372B-4A63F35F7D4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FF1F529-03AC-FEB8-71A4-536DF3BD668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｜皇后（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C2B8FA-7078-6C34-E094-1CC07BE4A57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544AA0B-021D-9AC0-1A47-7322DA1B995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63FFA7D-9C9C-35C7-4A1C-B96B1876ACA1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9C011BF-1D5D-8FB2-3E0A-935AA4C1B5A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7A0D39AD-0198-B116-89EC-5960E9B84BEC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QK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無男女之分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35453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3_S3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E50BA96-2190-6F8D-643A-D13FA3AAD86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D01F03F-D1A9-FF86-4ECB-285E8654CC4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251575-F28B-7572-227C-3C6A8E29FF0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90480C-6B52-0677-EF0F-631569A47FA9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42795B4-ECF9-0DD2-3100-57E17EC46D1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｜國王（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227F12-3CBF-637C-5E72-F0E340687A35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DC58861-0010-FB44-FEE9-1820EBF4785C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E9F991-F4EF-26F9-D0DF-43EA2C052124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821F4D1-1712-27D3-505C-A6298BDC809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462094BF-E07E-9D3A-3608-599929AF041F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霸氣外露、剛強的
黑梅是懦弱的、無能的、力量不足、
氣勢不夠的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問健康走下坡、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問事業也很有可能步上版圖瓦解的危機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國王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KK
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 在身體健康問題中出現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如果問題為愛情之類，則有“雙”的意思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在任何有關合作的問題中，代表因意見相斥而造成紛爭不斷</a:t>
            </a:r>
          </a:p>
        </p:txBody>
      </p:sp>
    </p:spTree>
    <p:extLst>
      <p:ext uri="{BB962C8B-B14F-4D97-AF65-F5344CB8AC3E}">
        <p14:creationId xmlns:p14="http://schemas.microsoft.com/office/powerpoint/2010/main" val="6439677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4_S34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FB459F-FF14-208F-5ED7-50372EE2FAA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完整牌義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29CB96E-4417-1944-158B-424272E9390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2B92CA-0A2B-689D-DF2B-F5C3289159A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B13616-0331-2523-50A9-3D94E609A394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D21E42-43F5-763C-1E42-9F182BF870E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｜國王（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20C038-40F4-6048-78FB-15564CA61C81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AE8D85D-2210-9463-E3A5-9593115DFDCA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166157D-413F-5376-389A-7D6E9080F0C7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3D308E-3970-4129-D8CF-DAE54E23802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3913907C-461E-0794-E263-BCF5EED31A19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沒有男女之分</a:t>
            </a:r>
          </a:p>
        </p:txBody>
      </p:sp>
    </p:spTree>
    <p:extLst>
      <p:ext uri="{BB962C8B-B14F-4D97-AF65-F5344CB8AC3E}">
        <p14:creationId xmlns:p14="http://schemas.microsoft.com/office/powerpoint/2010/main" val="36958624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5_S3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2F519F5-CFF2-64B5-3859-D48C9217EC5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AA520CF-B824-F41F-F0AB-EA73B1FCF19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A90A6B-3DA8-F653-79E6-74168D3C112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DD2169-5DB1-7E72-D1DE-9E5866BF374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8F22929-A8CF-4F93-12A4-A470CBE58E89}"/>
              </a:ext>
            </a:extLst>
          </p:cNvPr>
          <p:cNvSpPr txBox="1"/>
          <p:nvPr/>
        </p:nvSpPr>
        <p:spPr>
          <a:xfrm>
            <a:off x="889000" y="1193800"/>
            <a:ext cx="10414000" cy="787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900" b="1">
                <a:solidFill>
                  <a:srgbClr val="B98B4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案例學習時間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4C459B4-6E44-A5CD-0F64-E2621046A2AD}"/>
              </a:ext>
            </a:extLst>
          </p:cNvPr>
          <p:cNvSpPr/>
          <p:nvPr/>
        </p:nvSpPr>
        <p:spPr>
          <a:xfrm>
            <a:off x="1524000" y="2336800"/>
            <a:ext cx="9144000" cy="2921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L0_BODY">
            <a:extLst>
              <a:ext uri="{FF2B5EF4-FFF2-40B4-BE49-F238E27FC236}">
                <a16:creationId xmlns:a16="http://schemas.microsoft.com/office/drawing/2014/main" id="{4818067E-8A3F-DBB3-0067-2966CF3A1632}"/>
              </a:ext>
            </a:extLst>
          </p:cNvPr>
          <p:cNvSpPr txBox="1"/>
          <p:nvPr/>
        </p:nvSpPr>
        <p:spPr>
          <a:xfrm>
            <a:off x="1968500" y="2679700"/>
            <a:ext cx="8255000" cy="2222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5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案例學習時間
掌運卡</a:t>
            </a:r>
          </a:p>
        </p:txBody>
      </p:sp>
    </p:spTree>
    <p:extLst>
      <p:ext uri="{BB962C8B-B14F-4D97-AF65-F5344CB8AC3E}">
        <p14:creationId xmlns:p14="http://schemas.microsoft.com/office/powerpoint/2010/main" val="21296011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6_S36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04BA0BB-2C9A-096D-235D-8630D8BD3F4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E01C34-0B32-C1D0-F2F2-7996BED3B29F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7DA525-B296-3683-4AFF-FD6964729A6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DF8FAB-412C-7F8B-42B7-70E272BD461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9E949B-BAB2-2E68-A7CD-1F4B0401BA60}"/>
              </a:ext>
            </a:extLst>
          </p:cNvPr>
          <p:cNvSpPr txBox="1"/>
          <p:nvPr/>
        </p:nvSpPr>
        <p:spPr>
          <a:xfrm>
            <a:off x="889000" y="1193800"/>
            <a:ext cx="10414000" cy="787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900" b="1">
                <a:solidFill>
                  <a:srgbClr val="B98B4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特殊牌組合說明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901BCCE-5693-BBF8-2C6E-11D2C1DD54E5}"/>
              </a:ext>
            </a:extLst>
          </p:cNvPr>
          <p:cNvSpPr/>
          <p:nvPr/>
        </p:nvSpPr>
        <p:spPr>
          <a:xfrm>
            <a:off x="1524000" y="2336800"/>
            <a:ext cx="9144000" cy="2921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L0_BODY">
            <a:extLst>
              <a:ext uri="{FF2B5EF4-FFF2-40B4-BE49-F238E27FC236}">
                <a16:creationId xmlns:a16="http://schemas.microsoft.com/office/drawing/2014/main" id="{851D382E-FB8A-C41F-DF0D-018FA278C6CF}"/>
              </a:ext>
            </a:extLst>
          </p:cNvPr>
          <p:cNvSpPr txBox="1"/>
          <p:nvPr/>
        </p:nvSpPr>
        <p:spPr>
          <a:xfrm>
            <a:off x="1968500" y="2679700"/>
            <a:ext cx="8255000" cy="2222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5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任何問牌有特殊牌卡，必看特殊意義
破解要擔心，不破解要小心</a:t>
            </a:r>
          </a:p>
        </p:txBody>
      </p:sp>
    </p:spTree>
    <p:extLst>
      <p:ext uri="{BB962C8B-B14F-4D97-AF65-F5344CB8AC3E}">
        <p14:creationId xmlns:p14="http://schemas.microsoft.com/office/powerpoint/2010/main" val="30078737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7_S37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E6E80AD-5887-526F-B960-9C3A4738C10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209F705-958D-E481-83EE-ED2409D3BF2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D17843-8E1E-BE8E-52BE-9DD0F269E61B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9A60822-BBB1-F722-6168-E1F44F090B8F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1D9F0B-043C-9348-CDB2-7EEBA0CD7BB1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特殊牌組合總表（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8CDB9D-4EE3-1394-7234-62FD31E5B02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3B0CF3-970E-C30E-5B1C-4788B6F1DCD8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0D0F85-8CAA-5368-46F9-F0330919AF78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高風險原文｜涉及健康與第三人感情推論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31ADCC7-1148-4ADC-F925-0491E7FE6C2F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09887F71-05B3-179E-332A-90AE94D0B517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A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5 5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8 8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，開高走低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5 5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8 8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 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，喜憂參半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 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，紛爭不斷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A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5 5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8 8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，開高走低
如果黑梅出現在後，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黑梅在第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這些組合無論任何事情，有開高走低的意味，
在好或不好的問題中，意味都偏向於局勢即將走下坡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5 5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8 8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K, 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
不論花色，在身體健康問題中出現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，已亮紅燈如果問題為愛情之類，
則有“雙”的意思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若合作不歡而散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舉例說明，我會有姻緣嗎？</a:t>
            </a:r>
          </a:p>
        </p:txBody>
      </p:sp>
    </p:spTree>
    <p:extLst>
      <p:ext uri="{BB962C8B-B14F-4D97-AF65-F5344CB8AC3E}">
        <p14:creationId xmlns:p14="http://schemas.microsoft.com/office/powerpoint/2010/main" val="53492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8_S37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78AE325-4B9A-9CA5-F521-695F025EA1C2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467D6CA-7793-8DD0-6BEF-81B20DDE32C7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0E1279-3848-5EE3-B3AF-733050A5BE3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F40DC4-4DE2-3AC6-4B41-B9BC7FB6652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164B328-E6C5-4F57-C3B7-7A1AAA3679A3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特殊牌組合總表（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8FB704-5EEC-A5A1-E1C5-1976A26ED828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BAF8B36-F207-41AF-B007-BA3E326DD8A7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D68AF8-3276-D5FE-29AE-CA6984649C19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高風險原文｜涉及健康與第三人感情推論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07B4FF6-A495-BBA3-035D-8ECE96C51D8D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40DB1EB0-2C81-EF89-370D-B3E8651F5748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結論是百分之百，而且是二度姻緣。他愛我嗎？答案是愛，但對方愛的不只你一個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身體好嗎一半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工作好嗎沒有專注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愛我嗎還有別人喔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10 10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，紛爭不斷
不論花色，在任何有關合作的問題中，代表因意見相斥而造成紛爭不斷，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合作中會有些紛爭糾紛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同性相斥就是這個道理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跟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000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合作好嗎有上面四組等於不歡而散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9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28586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59_S38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C6B4720-DE02-BA5C-B549-323297A1C35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9937C62-A6AD-58F5-6D1D-8BB76049CAE9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330F78-23AF-9889-0566-8B2EBA222C9D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A68DD8-F4F7-6491-4E33-40306E69B3F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B556704-4CD1-F352-CDA0-2384CD20BDD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｜雙鬼合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6ADA88-D9AD-F4E5-6B39-3D1B58063160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85AA31A-381F-DC8D-1C89-11E7426F798C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C262F98C-718B-4BE9-0E25-48B9E94FC4CA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逢凶化吉或雪上加霜
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2 2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出現，只要黑梅不是出現在後，
這組牌稱之為“雙鬼合” 能逢凶化吉
在是否達成某目標問題中代表獲得強大助力，
所以事情將會有好轉的趨勢，
不過畢竟出現了兩張鬼惑，過程中難免紛爭不斷，挫折綿綿，所以執行中務必如履薄冰小心謹慎，步步為營小心處理
雖然能獲強大助力也是需謹謹慎
如果黑梅出現在後，就表示事情的發展毫無轉圜之地，
有雪上加霜，難上加難的意思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黑梅第一張才是好牌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(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兩張都沒有黑梅都逢兇化吉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)(2</a:t>
            </a:r>
            <a:r>
              <a:rPr lang="zh-TW" altLang="en-US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黑梅在後無解雪上加霜</a:t>
            </a:r>
            <a:r>
              <a:rPr lang="en-US" altLang="zh-TW" sz="17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7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63451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0_S39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B0F7259-B5DB-D3DD-2322-5F5DBA10B69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C6DC56A-21D4-961E-5FA7-9C13FCA8B59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784364-32A2-5322-B455-798A9B78FF9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D40BF6-4F29-83D7-1B26-34EB73B2A11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D69AB4-08DE-87BC-A4BE-AF75F7F5E382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｜來源原文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F1769E-0208-E7B9-D7E6-BA055B534EC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F9C7316-2573-2984-E6F2-E2F1FCFCF30B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C2C79B3-C1F5-2BD7-4A4C-739E2D80F984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高風險原文｜涉及性傾向與隱私推論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28C3084-3C39-F0EF-B3B7-AD472845E70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F2239DDC-9AEE-6674-3250-DFFBD1320C87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或是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出現，不論花色若問性向則代表對方是同性戀，
假使翻出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，則需要再翻第三張，
倘若又翻出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，結果也是肯定的
兩個想法兩個內在（兩個人）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會有兩個個解釋
理性是懂規劃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部分
感性是一廂情願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部分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感情有雙的意思或姻緣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度
合作有紛爭的意思
同性戀
理性加感性</a:t>
            </a:r>
          </a:p>
        </p:txBody>
      </p:sp>
    </p:spTree>
    <p:extLst>
      <p:ext uri="{BB962C8B-B14F-4D97-AF65-F5344CB8AC3E}">
        <p14:creationId xmlns:p14="http://schemas.microsoft.com/office/powerpoint/2010/main" val="2451974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1_S40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7324AC8-29A5-0022-6FDC-A18025D97904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CADCAE-663E-EA53-8C85-4A92F042E0B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116BB3-1FF8-619C-9510-CEFBDF924CA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99FE7D-BA35-BA5C-42DB-66D4ABF6C7B2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13FCD40-93F5-5984-8465-184839C417EE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｜雙風疊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8E27C5-DBDD-F4C7-9B06-0B26B727759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D4697AF-E5AC-91B9-0526-436D8558546D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D25C5A66-64A3-6DEF-DB14-B57C36EB9705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雨過天晴或狂風暴雨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4 4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，只要黑梅不是出現在後，
則稱為 “雙風疊”，意味著塵埃落定，
在是否能達成某目標的問題中，
代表事情將會雨過天晴，將有明朗的發展
若黑梅在後，將會形成狂風驟雨，超級不妙</a:t>
            </a:r>
          </a:p>
        </p:txBody>
      </p:sp>
    </p:spTree>
    <p:extLst>
      <p:ext uri="{BB962C8B-B14F-4D97-AF65-F5344CB8AC3E}">
        <p14:creationId xmlns:p14="http://schemas.microsoft.com/office/powerpoint/2010/main" val="140850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2_S41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9ECA841-A455-74C6-CB88-9ED314C02510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7A7562-33D1-0497-4507-666732EB8577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7CA3AE-F4C5-1665-E038-50A2B1155785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FEC268C-A91E-2430-1901-705FF38E350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71F4108-CFC6-262E-3D43-5262261505F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8DCC29-E0DC-81B6-64B4-F99540499B5C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92E564A-61D7-C147-E7C3-FAEE9B60DF1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CF1E25B-E379-0633-79D8-31F189BCEB3B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高風險原文｜涉及健康與感情宣判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0C50F8C-8EC4-03CB-1CEC-6644BB09B9DF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419D98A5-D1F0-8A13-1537-01B553085E3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64
4 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64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，不論花色，
在身體或愛情的問題中出現，
代表身體已亮紅燈及產生了分手的徵兆，簡單來說，就是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
No Good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分手的徵兆</a:t>
            </a:r>
          </a:p>
        </p:txBody>
      </p:sp>
    </p:spTree>
    <p:extLst>
      <p:ext uri="{BB962C8B-B14F-4D97-AF65-F5344CB8AC3E}">
        <p14:creationId xmlns:p14="http://schemas.microsoft.com/office/powerpoint/2010/main" val="13091019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3_S4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17CC6BE-615D-3176-EC1E-1A6FBFFFC48B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17E7416-2479-0438-4625-D51171A8163F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15D6B2-CB1B-C921-83DE-89A094D4D447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49F648-81B8-CDE5-3ACF-D93AF28C2EB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03D324-1194-5173-803F-D72E96D03DE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雙牌｜喜憂參半（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432AD0-6320-C81E-B385-C51A96F4A557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A54A25C-5059-DB79-E256-42D51A0B92AD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70EE5E-A8F2-57E5-6752-AE4B1EBDAC80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高風險原文｜涉及健康與第三人感情推論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9D39C08-6CA0-746A-50A7-81B492920DB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2D46DEF9-40D6-C7B8-91A3-6203E5845AA6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88
1010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JJ
QQ
KK
5 5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8 8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K,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不論花色，
在身體健康問題中出現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 Good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，已亮紅燈
在愛情感情婚姻問題中則有“雙”的意思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喜憂參半的意思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合作不歡而散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46219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4_S42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32B15E-A7FE-CBFF-1D16-9B11BCCA535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5A7D44-DDC9-9775-729B-52069BD58B5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744B7-91BB-BEAA-329D-50C8C51971F7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7D0DF5-5E37-8170-C187-D71B03A9E984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3E1E469-B031-0140-42EF-549B86AD2CB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雙牌｜喜憂參半（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84B436-B38C-670B-638C-D57A1E3D9F3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6753625-721F-D2E0-9F50-60BF1D58C3D6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A45D362-30D8-45FF-6AAE-DCAC5D7CFAB0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高風險原文｜涉及健康與第三人感情推論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1621FEE-F378-B583-1FEC-4BE47895C2FD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10F4D68C-E6B6-7865-4EDA-FC1910B87D99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舉例說明，我會有姻緣嗎？
結論是百分之百，而且是二度姻緣。
他愛我嗎？答案是愛，但對方愛的不只你一個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身體好嗎一半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工作好嗎沒有專注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愛我嗎還有別人喔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雙的意思</a:t>
            </a:r>
          </a:p>
        </p:txBody>
      </p:sp>
    </p:spTree>
    <p:extLst>
      <p:ext uri="{BB962C8B-B14F-4D97-AF65-F5344CB8AC3E}">
        <p14:creationId xmlns:p14="http://schemas.microsoft.com/office/powerpoint/2010/main" val="22201026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5_S4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9455BA1-BE40-E279-6AF9-2D21E9C5A48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4A1AEA-9224-05FC-E6E2-6615DC7923F1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380778-588F-5B03-9F8F-E3F87FC70E7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5298989-1392-AAD5-E6E7-1B9660922B8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CBD465-F907-FEA5-F316-45ABD50403E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｜大吉大利／無解死結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C53347-A40C-AB15-C7CE-22A1634E816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B7F7689-EBCC-067D-4C04-FC58DF6B44F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ED8BBEEA-61E3-5422-0598-05CC3FDE497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大吉大利
無解死結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，只要黑梅不出現在後，
不論問題， 此為大吉大利之卦凡事過關
若黑梅在後，將變成無解的死結，非常的不妙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都黑梅在後都不妙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612406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6_S4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68400DC-A573-9840-983E-7BF1821DBB90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8AF0AD7-3249-949B-E1E0-1C7FFC1A226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8475C9-787B-A210-62E9-40DD46D271D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7F4BC8-29C6-4156-61A0-B04DB39EE95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49D9CBD-2D20-4AD9-1FFE-2899A0354CD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｜身體問題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F97E02-083F-8837-3C71-4A8E037DE691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EBB8766-7BFF-D357-83DD-606816F4E6EC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48C6DB-92C2-4B57-043B-77E73F8EC95E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高風險原文｜涉及健康與生死措辭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4977C7C-D7F6-7C87-8106-A57AD40E7FB6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6BE948DC-9098-B3A3-AE7D-D14238A14F0C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7 7
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身體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7 7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，不論花色，若在身體的問題中出現，
代表要極度小心，是非常不妙的組合，
假使再翻一張牌（身體健康可翻三張牌），
又出現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，則代表情況嚴重，
所謂神仙難救無命客，（不收費不擔業果快請神通神醫）
出現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，也是非常不妙</a:t>
            </a:r>
          </a:p>
        </p:txBody>
      </p:sp>
    </p:spTree>
    <p:extLst>
      <p:ext uri="{BB962C8B-B14F-4D97-AF65-F5344CB8AC3E}">
        <p14:creationId xmlns:p14="http://schemas.microsoft.com/office/powerpoint/2010/main" val="1041996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7_S4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9B457DC-08A8-2437-3052-9E30AC5E1B1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757B120-184A-5531-9EF1-DB6F4E9F544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1C721D-25E6-8565-D271-92DF2F739C0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22FE5A-F450-8365-C46A-E1E00BB62EBF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449118-7D2D-E998-72F2-FDB8DDFF5FC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J9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Q9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C850EF-ECE7-189A-9283-57628A44527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F5868A5-1FFF-E075-B8B5-FA6051E067F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B9A1930B-5918-3EF2-9278-C6BEDEAE0DEF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Q9
9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9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，叫做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"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戰士執斧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"
9 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9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，為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"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皇后執斧“
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就不能說戰士配國王皇后
這些排組象徵著優越的能力與執行力，
在是否能達成某目標的問題中，
代表無堅不摧，過關斬將，凡事都能迎刃而解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該不該嫁後面不可有黑梅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適合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9J
J9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過關斬將</a:t>
            </a:r>
          </a:p>
        </p:txBody>
      </p:sp>
    </p:spTree>
    <p:extLst>
      <p:ext uri="{BB962C8B-B14F-4D97-AF65-F5344CB8AC3E}">
        <p14:creationId xmlns:p14="http://schemas.microsoft.com/office/powerpoint/2010/main" val="26945785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8_S46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B85A51A-062F-650B-B3B0-65B6E4297417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73230A-D3CA-AB5E-D255-E6463D50AD60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0EFB8E-BE1D-53E2-1857-9B9E0C9C8E02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016DF6-B536-526E-78C6-1E7065CCDD21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A7C8607-12D9-4746-7CA1-130795F6CCD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197F62-5F7C-0EBE-AE81-4B4C5C691BC2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883CBB4-B1C4-58A8-848C-9B152158B82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A7F710E-3320-8C9F-FBB9-F8CF42E9531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圓滿順利過關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，皇后配武士，
完美搭檔的一個組合，
在事業與期許類的問題中，
意味著順利過關，心想事成，
任何有關合作的事宜，
當然是非常的圓滿
在所有事情中的問題，這樣的牌組代表幸福與美滿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只要不是黑梅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會有破壞的意味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這樣的牌組代表幸福與美滿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K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，國王配武士，也有相同的意味</a:t>
            </a:r>
          </a:p>
        </p:txBody>
      </p:sp>
    </p:spTree>
    <p:extLst>
      <p:ext uri="{BB962C8B-B14F-4D97-AF65-F5344CB8AC3E}">
        <p14:creationId xmlns:p14="http://schemas.microsoft.com/office/powerpoint/2010/main" val="39203829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69_S46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4363D0E-FBC9-015C-964B-C7E45BEB5A5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1D0C06-5178-D508-2022-4C549065723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S46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C64C72-82D8-8ECD-19DF-769B7A71D24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D4C581-0900-1726-79B7-95DB7FBF85D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050E69-EB89-BD0F-A456-B12C34EFBCC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6A5C475-3239-A20F-A151-3AA210F8FB7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B76471D-ED75-13C4-5935-F01408B5F407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97A46553-8FAC-CC69-0ED0-9BD7765AB9A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我讓兒子當任公司的執行長好嗎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)(JQQKJKKJ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凡事很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OK)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23625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0_S47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DEC1AC5-50B0-C0F2-882E-085452BAB92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E369922-ABB1-E5B0-F0FE-4E9419E90E2E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S47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2B52A9-AD78-8C99-7579-B80EA17DD52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772EB11-1352-3298-6BE9-3CAC9F53D9E9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CB2400-AACD-5392-FBEF-875A79704ED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KQ</a:t>
            </a:r>
            <a:endParaRPr lang="zh-TW" altLang="en-US" sz="2800" b="1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AECA5E-2307-A22E-A3D2-08568B18199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38CB200-88CE-F8AD-F36A-4937853128D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AA7990C0-6A2E-170A-4834-AC5653AF72F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心想事成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K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Q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，天造地設的一個組合，
在事業與期許的問題中，
意味著順利過關及心想事成，
任何有關合作的事宜中也是非常的圓滿如意
在愛情的問題中則是幸福美滿的象徵</a:t>
            </a:r>
          </a:p>
        </p:txBody>
      </p:sp>
    </p:spTree>
    <p:extLst>
      <p:ext uri="{BB962C8B-B14F-4D97-AF65-F5344CB8AC3E}">
        <p14:creationId xmlns:p14="http://schemas.microsoft.com/office/powerpoint/2010/main" val="31950465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1_S48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3E0BC30-2394-6709-7280-1E779F08B57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｜特殊牌組合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C85A282-9811-C6DE-6C84-98CA960BCF6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S48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2FFFF5-3352-FB89-E574-25246D339E9F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9D53E8-129A-8D01-A656-0EBE978518EF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A61D19-A72D-919F-A8D0-A7373E4EE4C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｜合作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0554D9-3739-CB97-1DA0-85190B0D87A8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15C1895-DA8A-548C-8EC5-BDF8876BF3D4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636671F7-9C72-9CFE-6AAA-D69394BE5388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10 10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 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 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K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
不論花色，在任何有關合作的問題中，
代表因意見相斥而造成紛爭不斷不歡而散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合作中會有些紛爭糾紛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同性相斥是這個道理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跟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000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合作好嗎也有上面四組等於不歡而散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JJ
QQ
KK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
紛爭 不歡而散</a:t>
            </a:r>
          </a:p>
        </p:txBody>
      </p:sp>
    </p:spTree>
    <p:extLst>
      <p:ext uri="{BB962C8B-B14F-4D97-AF65-F5344CB8AC3E}">
        <p14:creationId xmlns:p14="http://schemas.microsoft.com/office/powerpoint/2010/main" val="21025601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2_S49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1EED74D-E4CB-AD68-B646-EA271CD1AEE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F8E085A-A5DF-49F3-C004-BE8456737C3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1DE2F4-3232-F7D2-0E58-C73F4142D7D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1296D2-A27C-3DB7-9B70-20848717A619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63BC49F-3066-C7F8-D79A-F5C4BE4F3C39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時間計算規則（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2A26B1-A18B-C91E-E522-6E3237F47284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6DF7807-FDCA-9CD3-D68D-39D3D8B863B7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439F1675-DDAC-AA02-360E-EDCAB172A38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規則：交給自己決定 自己設定時間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2~6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張牌不看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AJQK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交給高我決定抽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張牌來做運算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是高我來指引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一、取數：第一、三張牌相減，第二、四張牌相加，為負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2-8=6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無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 -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規則
各取其個位數來使用（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A=1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J=11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Q=12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K=13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
二、單位牌：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則以“天”為單位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則以“週”為單位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-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則以“月”為單位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其中出現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則以“年”為單位
三、單位的定位：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：先出先贏：若同時出現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，以先出現的為主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：少數服從多數：若同時出現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張以上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，則以多數的為主</a:t>
            </a:r>
          </a:p>
        </p:txBody>
      </p:sp>
    </p:spTree>
    <p:extLst>
      <p:ext uri="{BB962C8B-B14F-4D97-AF65-F5344CB8AC3E}">
        <p14:creationId xmlns:p14="http://schemas.microsoft.com/office/powerpoint/2010/main" val="78135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3_S49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B92C07C-F82F-BBF4-32F6-CC95A024F6C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6FA2A9C-4290-ABCB-5F5B-BD1A25ACE164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S49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23BEA1-D37F-44E9-EC27-D174E48D229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3B7CB31-3824-7D63-CABE-21E97877D170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EEFC5CF-D91A-43D6-186A-547AE79D1D7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時間計算規則（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4B0292-92EC-18D9-07EF-7DB290EFC22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51F888D-D97F-E9AC-72C9-36BDA8A45A4E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3EC13A90-A656-D7A2-245B-111B19CEBA47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: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計算單位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:J11 Q12 K13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取個位數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: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案例說明何時出國、何時買房、何時結婚、何時會還錢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…..?
(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沒出現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AJQK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時間可長可短隨時隨地 不定數牌決定權在抽牌者</a:t>
            </a:r>
          </a:p>
        </p:txBody>
      </p:sp>
    </p:spTree>
    <p:extLst>
      <p:ext uri="{BB962C8B-B14F-4D97-AF65-F5344CB8AC3E}">
        <p14:creationId xmlns:p14="http://schemas.microsoft.com/office/powerpoint/2010/main" val="22924625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4_S50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89E097F-4B59-CE54-6972-C99A46E94605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094E47F-8740-FE36-2E5D-4344C6F332C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S50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53D610-922B-37B4-FA33-9F54E9EC0830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8D2853-D944-F52A-721D-DC30E9384DDA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880E771-4DE0-677F-C0B2-86E845817FAB}"/>
              </a:ext>
            </a:extLst>
          </p:cNvPr>
          <p:cNvSpPr txBox="1"/>
          <p:nvPr/>
        </p:nvSpPr>
        <p:spPr>
          <a:xfrm>
            <a:off x="889000" y="1193800"/>
            <a:ext cx="10414000" cy="787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900" b="1">
                <a:solidFill>
                  <a:srgbClr val="B98B4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團體討論時間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CD21FA1-6900-F01F-F082-2DA368E64DB6}"/>
              </a:ext>
            </a:extLst>
          </p:cNvPr>
          <p:cNvSpPr/>
          <p:nvPr/>
        </p:nvSpPr>
        <p:spPr>
          <a:xfrm>
            <a:off x="1524000" y="2336800"/>
            <a:ext cx="9144000" cy="2921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L0_BODY">
            <a:extLst>
              <a:ext uri="{FF2B5EF4-FFF2-40B4-BE49-F238E27FC236}">
                <a16:creationId xmlns:a16="http://schemas.microsoft.com/office/drawing/2014/main" id="{9B81A6F2-C625-E777-FF82-7E3ECE824FD6}"/>
              </a:ext>
            </a:extLst>
          </p:cNvPr>
          <p:cNvSpPr txBox="1"/>
          <p:nvPr/>
        </p:nvSpPr>
        <p:spPr>
          <a:xfrm>
            <a:off x="1968500" y="2679700"/>
            <a:ext cx="8255000" cy="2222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ctr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25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團體討論時間
掌運卡</a:t>
            </a:r>
          </a:p>
        </p:txBody>
      </p:sp>
    </p:spTree>
    <p:extLst>
      <p:ext uri="{BB962C8B-B14F-4D97-AF65-F5344CB8AC3E}">
        <p14:creationId xmlns:p14="http://schemas.microsoft.com/office/powerpoint/2010/main" val="232048424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5_S51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ABE98EF-13EB-73E8-74F9-0E049BA70E9E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A2459A-1B16-F9DE-DD14-7904ACF96DB5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E0ED69-055D-057D-3759-B5ECA36F5108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0D5B1D6-6633-2DB8-5EE8-E6FB001CD02D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F3ED35-823D-D853-4793-EB1957A6ABC4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問卡規則（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E759B9-4C4C-C2E0-8A16-952F4962E0CE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B0BA327-9E84-B895-4390-F72D9AB6116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43768ED-C93E-5334-7F85-C10846B79A77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來源差異｜不確定牌與補牌規則待裁定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654C3FE-9202-D3E6-1DCA-6F6F31038DE8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6A54BAFD-1C6F-734B-D6CE-0C15AB602812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不好牌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o+x=x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好牌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x+o=o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不好牌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x+x=x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人事時地物問問題時要詳細
要看過這個人才能掌運牌卡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要自己翻牌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增加財富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高我告訴我怎們做數目目標時間點都要出來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改善感情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我要怎們做請高我告訴我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是自己有要改變的心才問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夫妻關係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要兩人同時翻牌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 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生孩子，好嗎？會生嗎？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（是兩個人才能生啊，對方也要有這個心）
問醫生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門診的都可以問醫生緣可以問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問牌要專注有疑不問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(12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歲以上才能翻牌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掉牌不算牌要重新洗牌，再抽牌
介紹朋友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沒見面不能問因為沒有量子糾纏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491452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6_S51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B7C6382-A180-104B-3810-259DDD94EDE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70DF3B0-AD2F-A782-26E9-04D4456A57D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S51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52EF5F-2CE6-AAB6-EF89-DC94CE0519E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5EED97-A90F-939A-472B-4A7E700831DA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76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76D6A4-83EA-7E1B-4D7C-0FE11A09759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問卡規則（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58261F-4AA2-3466-B7BD-ADDE329CF83B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5A3BEED-8827-E78A-E17F-409458E0612B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B05A9B5-0218-7BBB-C7B0-8A515B993C08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來源差異｜不確定牌與補牌規則待裁定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2353055-9E7F-D776-3BDF-F2B0F615534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A866A89E-53F4-E096-5E82-BAA16A563BD6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問時間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(1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自行設定時間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至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 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交給高我問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2 3 4 6 7 8C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是不確定牌要補牌
</a:t>
            </a: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10JQK </a:t>
            </a: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看問的問題會解釋是神明牌或貴人牌
問卡規則</a:t>
            </a:r>
          </a:p>
        </p:txBody>
      </p:sp>
    </p:spTree>
    <p:extLst>
      <p:ext uri="{BB962C8B-B14F-4D97-AF65-F5344CB8AC3E}">
        <p14:creationId xmlns:p14="http://schemas.microsoft.com/office/powerpoint/2010/main" val="19144893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7_S52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1E7F43F-F655-24DA-E58E-6574FF4B2A20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E2C867-0A4D-D3B2-A4F1-92791B48C69A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A1E067-30BE-DAEE-24D5-D52B9A3238A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F6FEC6-850F-F3B8-FEB3-FE195528113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77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F5F9A5-C1B1-B2AB-BC25-1F4D08EB973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掌運卡備註（一）（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ED3EB9-1C58-A6E7-CBD0-1B6319BE45F1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BF0DB2-12D7-83B4-71B1-4F0060D47493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ED16AB-1C82-00D6-152C-B21B902F23E1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高風險原文｜涉及健康、因果與第三人問題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504AF6C-0B86-8B40-F2D0-91470209DE61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E800A782-360C-6D91-BCAE-8DBACBCC415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
問磁場一定要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
問健康要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張牌心態牌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張起跳
牌卡不可代替抽、不可助抽（會有因果）
因果業力會傷到，解牌後一定要放空，不參與對方的因果業
會掌運卡不是聽個案使喚的工作者
他好嗎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表示不是諮詢者在問
數字是確定的，花色是千變萬化的解釋
依照個案的問題要前或後解，是一門智慧
牌卡可以從前面解釋到後面，也可從後面解到前面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至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的主題要背</a:t>
            </a:r>
          </a:p>
        </p:txBody>
      </p:sp>
    </p:spTree>
    <p:extLst>
      <p:ext uri="{BB962C8B-B14F-4D97-AF65-F5344CB8AC3E}">
        <p14:creationId xmlns:p14="http://schemas.microsoft.com/office/powerpoint/2010/main" val="92185592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8_S52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A085C16-57B5-884C-F367-9208083D5B11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1EDFEB-9C3E-3CAF-ADF0-8BEB1838B460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4FBD66-CF10-42AD-F926-D647833BD21D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584A207-106F-4D30-37BA-7B2037686BD6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78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1D37453-61ED-5A15-CC92-819C3ADCEEAD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掌運卡備註（一）（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1D08CF-7A23-FBDF-84CB-B47983312AC0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4710E7A-A327-8823-6DB8-C43D579483BE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14845B-6FD9-1253-176A-120D287A1983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高風險原文｜涉及健康、因果與第三人問題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D58378-97E2-7E56-E9AC-66AAECB7D24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7B9CD1BC-2E5B-693B-A7E1-13D1C5308090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特殊牌卡不用看花色
撲克牌卡沒有個資，解牌者就事論事
你的牌卡不能給別人用，這是運在手中心之所向
掌運卡不會有磁場干擾的問題，當下的牌當下解完不可以到隔天或白天所問下午再補牌問
問的問題要連結好，才能解牌
有雙的時候，解牌有兩種選擇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88551010 JJ QQ KK
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自己問自己（會一直想補牌到最好的，不夠中立），要換個方式來問或請教同學 老師 群組
花色「 有」無限的延伸，數字「不」能延伸
核心精神
掌運卡不是在預測未來，而是看見正在發生的潛意識劇情。
它讓你在混亂中看清情緒走向，在卡住時分辨外在與內在原因，</a:t>
            </a:r>
          </a:p>
        </p:txBody>
      </p:sp>
    </p:spTree>
    <p:extLst>
      <p:ext uri="{BB962C8B-B14F-4D97-AF65-F5344CB8AC3E}">
        <p14:creationId xmlns:p14="http://schemas.microsoft.com/office/powerpoint/2010/main" val="28346411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79_S52_03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FE98B11-1C74-6955-1234-733C1AE54FB8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124D89D-B7B0-84C9-D749-7B9F2D99AB7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3798F7-6527-530E-4ED2-125AFBE5D7D9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5423919-C36F-5CB8-B033-3C6CBAF11857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79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7CDC30D-E4C0-440E-1EB4-E670BAD75A1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掌運卡備註（一）（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3/3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676B52-5A93-D819-62C0-97582652B8E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B3979F7-879C-43D1-5B3D-B7B949C4DFAF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5C0C7AF-FE0D-7315-38D4-1388D172BC7C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高風險原文｜涉及健康、因果與第三人問題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6774BDE-35E7-C858-E0B4-41670A6CBC43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A5324DAF-1B5A-8CC9-A155-0D5E7B6F44B6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在面對選擇時找到自己真正的聲音。</a:t>
            </a:r>
          </a:p>
        </p:txBody>
      </p:sp>
    </p:spTree>
    <p:extLst>
      <p:ext uri="{BB962C8B-B14F-4D97-AF65-F5344CB8AC3E}">
        <p14:creationId xmlns:p14="http://schemas.microsoft.com/office/powerpoint/2010/main" val="6955883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0_S53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12C71A9-D47F-B299-4586-28B2FB4D68C9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0762C6-92A1-3AF8-FC03-DE9F1F3567EF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B66002-0457-CECC-F8EE-1FED4D707231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06093B-F55F-2927-212E-70A78EB5C163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80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B16D2C0-51DD-4DB9-84C5-27EFDC21AC06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掌運卡備註（二）（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748935-77DE-106F-6BCB-96E613261CCD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0CFD781-57FA-35BD-9ED8-F9A6D5C116AF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206B507-C51C-691D-19B2-40AAB7F8520F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來源差異｜補牌規則有兩套說法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7D58400-3EAA-37E2-E8F5-C082E01F34C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7DC0DCF9-231C-398A-4925-3485C0D539A3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
尾牌有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 其他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就是
沒有好結果 問牌過了一天要重牌換個方式問
重申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2 3 4 6 7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不論花色和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都是不確定牌要補牌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4 6 C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都要補牌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其他牌的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是沒有看到好結果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)
.
.
.
.
.
.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82126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1_S53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6220AD1-74EB-C6C8-6087-3D8850F006FC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B6F2E3-2020-0745-76E5-077198BBD378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S53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78A83B-2A2E-418E-645E-4A8CE10565D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6F18455-519D-AEBB-4367-A82F327515B8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81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DFEA0A0-CCDB-FD81-729E-99F0014EF567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掌運卡備註（二）（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459F5D-B894-6445-A6B6-9C7D1DE33CB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1B5C2C-5AFB-FFA6-06D0-15DF50722221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25F290C-8B12-19E2-78C1-3E39C49ADC77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來源差異｜補牌規則有兩套說法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1B67F79-31E0-FD0A-93F6-9999AC19796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99BC906A-A6D2-AB60-070E-72952BA16F2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
.
.
.
.
.
.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97400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2_S54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162F2B0-E4F1-6B7A-5590-A710FF787C70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258A178-3FDB-CD37-D53A-F34B9F0E39F2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EBDD66-BE19-2370-C794-1022D5F5240A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69DDDBF-7A8A-F6A8-CF23-3C11F72063CB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82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9326120-9BD9-1EB0-6591-C3CE32ADD8DC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學習跨越轉化｜來源原文待確認（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16F649-9D8B-2C30-DAD9-8D592AFDC2F0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0CAD89-6763-A718-1E86-5963B584F5BE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8F85B9-CE56-50CD-8687-2A55384F64E0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來源差異｜花色名稱與規則和前文不一致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9ECA1B-29BA-5270-8210-617490D9E5C5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B9C3FA33-A019-B0D8-3723-AFEB75751AC4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 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—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學習跨越轉化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建立牌的「語感」 每張牌是情緒縮影。
花色對應：
紅心：愛、情感、連結、柔軟、依賴
方塊：金錢、現實、計畫、人脈、利益
黑桃：壓力、責任、挑戰、選擇、界線
梅花：詭異感、潛意識、外部干擾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看劇本，不是看單張，要抽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張牌，編三句話的小故事，描述牌之間的互動情境來學習。
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熟悉特殊組合，掌握訊號燈 特殊組合示例：
黑梅</a:t>
            </a:r>
            <a:r>
              <a:rPr lang="en-US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</a:t>
            </a:r>
            <a:r>
              <a:rPr lang="zh-TW" altLang="en-US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紅心：愛中有壓力或懷疑
雙數字：情緒爆棚</a:t>
            </a:r>
          </a:p>
        </p:txBody>
      </p:sp>
    </p:spTree>
    <p:extLst>
      <p:ext uri="{BB962C8B-B14F-4D97-AF65-F5344CB8AC3E}">
        <p14:creationId xmlns:p14="http://schemas.microsoft.com/office/powerpoint/2010/main" val="25178827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3_S54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B106D5C-1C69-42C8-F0A9-C7F30C78421F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5B64DF-F39E-3E2A-09E2-701C1DCFBEEB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1AC82-9FE2-9AB0-B2ED-D263D930428C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4806901-A031-4D26-1058-1FB5D1E54EA5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83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45D2D2-419C-8647-6F83-B2DA5F033735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學習跨越轉化｜來源原文待確認（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98A1EE-837F-41A6-D639-38A770C0041F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07C5DE9-0897-6BEB-BC08-0D2723B1130D}"/>
              </a:ext>
            </a:extLst>
          </p:cNvPr>
          <p:cNvSpPr/>
          <p:nvPr/>
        </p:nvSpPr>
        <p:spPr>
          <a:xfrm>
            <a:off x="6604000" y="1562100"/>
            <a:ext cx="4800600" cy="381000"/>
          </a:xfrm>
          <a:prstGeom prst="roundRect">
            <a:avLst/>
          </a:prstGeom>
          <a:solidFill>
            <a:srgbClr val="F4E1D5"/>
          </a:solidFill>
          <a:ln w="10160">
            <a:solidFill>
              <a:srgbClr val="9B5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F01D7FB-8B80-0576-EADA-D7B7F5BFF5AE}"/>
              </a:ext>
            </a:extLst>
          </p:cNvPr>
          <p:cNvSpPr txBox="1"/>
          <p:nvPr/>
        </p:nvSpPr>
        <p:spPr>
          <a:xfrm>
            <a:off x="6781800" y="1638300"/>
            <a:ext cx="44450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zh-TW" altLang="en-US" sz="920" b="1">
                <a:solidFill>
                  <a:srgbClr val="9B5E4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來源差異｜花色名稱與規則和前文不一致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0BF58B-3A88-8DDB-4F0B-D0EEBF87DD8D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L0_BODY">
            <a:extLst>
              <a:ext uri="{FF2B5EF4-FFF2-40B4-BE49-F238E27FC236}">
                <a16:creationId xmlns:a16="http://schemas.microsoft.com/office/drawing/2014/main" id="{4B241527-B7FC-639A-4E69-25954D45163D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同花色連號：事情醞釀轉折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JQK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互撞：人際劇情上演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用牌聽見而不是判斷 用感覺敘述：「這組牌像是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」，引導對方自己對應，不急著下定論。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每日自我翻牌驗證 問自己具體問題，抽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張牌，以直覺解讀，數日後回頭驗證。
</a:t>
            </a:r>
            <a:r>
              <a:rPr lang="en-US" altLang="zh-TW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6. </a:t>
            </a:r>
            <a:r>
              <a:rPr lang="zh-TW" altLang="en-US" sz="19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幫他人抽牌，只說感覺
幫朋友抽牌時，只描述牌帶來的場景感與情緒感，
不解釋牌義，讓對方自己感應核心精神</a:t>
            </a:r>
          </a:p>
        </p:txBody>
      </p:sp>
    </p:spTree>
    <p:extLst>
      <p:ext uri="{BB962C8B-B14F-4D97-AF65-F5344CB8AC3E}">
        <p14:creationId xmlns:p14="http://schemas.microsoft.com/office/powerpoint/2010/main" val="25687054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4_S55_01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0DD011E-E284-4692-4461-4C181C5509E6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2D8CA9-FDAF-0788-C7A2-5C9C2771E89C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B5E4EF-4C22-21DF-B402-57BB64576F4D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4EAE03A-318A-0B01-8024-D2023688123E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84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214A069-8EEC-DA74-A469-A16FD19C8B9A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案例學習紀錄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Q&amp;A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B20A4D-F736-A6C2-901C-B53B952D8657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3F5F483-A89C-8545-86C8-51E6B086AF10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8A48450B-6C60-02E1-F302-38B19D7E63CB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pt-BR" altLang="zh-TW" sz="15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Q:
A:
Q:
A:
Q:
A:
Q:
A:
Q:
A:
Q:</a:t>
            </a:r>
            <a:endParaRPr lang="zh-TW" altLang="en-US" sz="15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75982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0_P85_S55_02"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7D8FDFE-0E82-F3BF-2DCD-56EC56CAF3CF}"/>
              </a:ext>
            </a:extLst>
          </p:cNvPr>
          <p:cNvSpPr txBox="1"/>
          <p:nvPr/>
        </p:nvSpPr>
        <p:spPr>
          <a:xfrm>
            <a:off x="711200" y="279400"/>
            <a:ext cx="59690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TW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｜操作規則與練習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04EB66-0972-5CE7-DC3E-1A2FE6E496ED}"/>
              </a:ext>
            </a:extLst>
          </p:cNvPr>
          <p:cNvSpPr txBox="1"/>
          <p:nvPr/>
        </p:nvSpPr>
        <p:spPr>
          <a:xfrm>
            <a:off x="7747000" y="279400"/>
            <a:ext cx="3708400" cy="2794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zh-TW" altLang="en-US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九月版 </a:t>
            </a:r>
            <a:r>
              <a:rPr lang="en-US" altLang="zh-TW" sz="90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S55</a:t>
            </a:r>
            <a:endParaRPr lang="zh-TW" altLang="en-US" sz="900">
              <a:solidFill>
                <a:srgbClr val="70756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941D6B6-8D6F-3D34-8539-846C7F8A7427}"/>
              </a:ext>
            </a:extLst>
          </p:cNvPr>
          <p:cNvSpPr/>
          <p:nvPr/>
        </p:nvSpPr>
        <p:spPr>
          <a:xfrm>
            <a:off x="711200" y="622300"/>
            <a:ext cx="10744200" cy="25400"/>
          </a:xfrm>
          <a:prstGeom prst="rect">
            <a:avLst/>
          </a:prstGeom>
          <a:solidFill>
            <a:srgbClr val="EEDFC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18B2BBB-8F36-7FD5-5D3D-0FFC21EC251D}"/>
              </a:ext>
            </a:extLst>
          </p:cNvPr>
          <p:cNvSpPr txBox="1"/>
          <p:nvPr/>
        </p:nvSpPr>
        <p:spPr>
          <a:xfrm>
            <a:off x="8255000" y="6426200"/>
            <a:ext cx="3200400" cy="2286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 algn="r">
              <a:spcAft>
                <a:spcPts val="400"/>
              </a:spcAft>
            </a:pP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85  ·  v0.3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</a:t>
            </a:r>
            <a:r>
              <a:rPr lang="en-US" altLang="zh-TW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L0 </a:t>
            </a:r>
            <a:r>
              <a:rPr lang="zh-TW" altLang="en-US" sz="850">
                <a:solidFill>
                  <a:srgbClr val="7075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校整候選｜待確認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20B68D-EDE9-2A67-E40D-18D5FDF4889F}"/>
              </a:ext>
            </a:extLst>
          </p:cNvPr>
          <p:cNvSpPr txBox="1"/>
          <p:nvPr/>
        </p:nvSpPr>
        <p:spPr>
          <a:xfrm>
            <a:off x="787400" y="914400"/>
            <a:ext cx="10617200" cy="6985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案例學習紀錄 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Q&amp;A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</a:t>
            </a:r>
            <a:r>
              <a:rPr lang="en-US" altLang="zh-TW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2/2</a:t>
            </a:r>
            <a:r>
              <a:rPr lang="zh-TW" altLang="en-US" sz="2800" b="1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1F3D2-BF1A-E50E-5C4F-5DC49E81B343}"/>
              </a:ext>
            </a:extLst>
          </p:cNvPr>
          <p:cNvSpPr/>
          <p:nvPr/>
        </p:nvSpPr>
        <p:spPr>
          <a:xfrm>
            <a:off x="787400" y="1739900"/>
            <a:ext cx="1066800" cy="63500"/>
          </a:xfrm>
          <a:prstGeom prst="rect">
            <a:avLst/>
          </a:prstGeom>
          <a:solidFill>
            <a:srgbClr val="B98B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C20222F-8950-7684-DFFA-684875395BF2}"/>
              </a:ext>
            </a:extLst>
          </p:cNvPr>
          <p:cNvSpPr/>
          <p:nvPr/>
        </p:nvSpPr>
        <p:spPr>
          <a:xfrm>
            <a:off x="787400" y="2082800"/>
            <a:ext cx="10617200" cy="4089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EDF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L0_BODY">
            <a:extLst>
              <a:ext uri="{FF2B5EF4-FFF2-40B4-BE49-F238E27FC236}">
                <a16:creationId xmlns:a16="http://schemas.microsoft.com/office/drawing/2014/main" id="{D3BEFBEB-93A4-A642-BD99-853CD1AE602E}"/>
              </a:ext>
            </a:extLst>
          </p:cNvPr>
          <p:cNvSpPr txBox="1"/>
          <p:nvPr/>
        </p:nvSpPr>
        <p:spPr>
          <a:xfrm>
            <a:off x="1168400" y="2374900"/>
            <a:ext cx="9855200" cy="3505200"/>
          </a:xfrm>
          <a:prstGeom prst="rect">
            <a:avLst/>
          </a:prstGeom>
          <a:noFill/>
        </p:spPr>
        <p:txBody>
          <a:bodyPr vert="horz" wrap="square" lIns="63500" tIns="50800" rIns="63500" bIns="50800" rtlCol="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US" altLang="zh-TW" sz="2200">
                <a:solidFill>
                  <a:srgbClr val="263047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A:</a:t>
            </a:r>
            <a:endParaRPr lang="zh-TW" altLang="en-US" sz="2200">
              <a:solidFill>
                <a:srgbClr val="263047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69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14253</Words>
  <Application>Microsoft Office PowerPoint</Application>
  <PresentationFormat>自訂</PresentationFormat>
  <Paragraphs>631</Paragraphs>
  <Slides>85</Slides>
  <Notes>85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85</vt:i4>
      </vt:variant>
    </vt:vector>
  </HeadingPairs>
  <TitlesOfParts>
    <vt:vector size="90" baseType="lpstr">
      <vt:lpstr>Microsoft JhengHei UI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大倫 黃</dc:creator>
  <cp:lastModifiedBy>大倫 黃</cp:lastModifiedBy>
  <cp:revision>1</cp:revision>
  <dcterms:created xsi:type="dcterms:W3CDTF">2026-08-26T09:29:23Z</dcterms:created>
  <dcterms:modified xsi:type="dcterms:W3CDTF">2026-08-26T09:29:24Z</dcterms:modified>
</cp:coreProperties>
</file>